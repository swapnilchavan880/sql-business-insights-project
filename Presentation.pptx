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32" r:id="rId4"/>
  </p:sldMasterIdLst>
  <p:notesMasterIdLst>
    <p:notesMasterId r:id="rId21"/>
  </p:notesMasterIdLst>
  <p:sldIdLst>
    <p:sldId id="310" r:id="rId5"/>
    <p:sldId id="311" r:id="rId6"/>
    <p:sldId id="304" r:id="rId7"/>
    <p:sldId id="305" r:id="rId8"/>
    <p:sldId id="312" r:id="rId9"/>
    <p:sldId id="313" r:id="rId10"/>
    <p:sldId id="314" r:id="rId11"/>
    <p:sldId id="315" r:id="rId12"/>
    <p:sldId id="316" r:id="rId13"/>
    <p:sldId id="291" r:id="rId14"/>
    <p:sldId id="317" r:id="rId15"/>
    <p:sldId id="318" r:id="rId16"/>
    <p:sldId id="319" r:id="rId17"/>
    <p:sldId id="320" r:id="rId18"/>
    <p:sldId id="321" r:id="rId19"/>
    <p:sldId id="32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0E9"/>
    <a:srgbClr val="349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443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Learning%202025%20Dashboards\SQL%20Dashboard\Atliq%20Hardware%20SQL%20Dashboard\SQL%20data%20valid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Learning%202025%20Dashboards\SQL%20Dashboard\Atliq%20Hardware%20SQL%20Dashboard\SQL%20data%20valid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Learning%202025%20Dashboards\SQL%20Dashboard\Atliq%20Hardware%20SQL%20Dashboard\SQL%20data%20valida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Learning%202025%20Dashboards\SQL%20Dashboard\Atliq%20Hardware%20SQL%20Dashboard\SQL%20data%20validati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Learning%202025%20Dashboards\SQL%20Dashboard\Atliq%20Hardware%20SQL%20Dashboard\SQL%20data%20validati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Learning%202025%20Dashboards\SQL%20Dashboard\Atliq%20Hardware%20SQL%20Dashboard\SQL%20data%20validatio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Learning%202025%20Dashboards\SQL%20Dashboard\Atliq%20Hardware%20SQL%20Dashboard\SQL%20data%20validat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/>
              <a:t>Unique Product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Q.2!$C$12:$D$12</c:f>
              <c:strCache>
                <c:ptCount val="2"/>
                <c:pt idx="0">
                  <c:v>unq_product_2020</c:v>
                </c:pt>
                <c:pt idx="1">
                  <c:v>unq_product_2021</c:v>
                </c:pt>
              </c:strCache>
            </c:strRef>
          </c:cat>
          <c:val>
            <c:numRef>
              <c:f>Q.2!$C$13:$D$13</c:f>
              <c:numCache>
                <c:formatCode>General</c:formatCode>
                <c:ptCount val="2"/>
                <c:pt idx="0">
                  <c:v>245</c:v>
                </c:pt>
                <c:pt idx="1">
                  <c:v>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A0-4967-BBBA-22FD38FC22E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023017008"/>
        <c:axId val="1023015088"/>
      </c:barChart>
      <c:catAx>
        <c:axId val="1023017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3015088"/>
        <c:crosses val="autoZero"/>
        <c:auto val="1"/>
        <c:lblAlgn val="ctr"/>
        <c:lblOffset val="100"/>
        <c:noMultiLvlLbl val="0"/>
      </c:catAx>
      <c:valAx>
        <c:axId val="10230150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23017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Q.3!$C$10</c:f>
              <c:strCache>
                <c:ptCount val="1"/>
                <c:pt idx="0">
                  <c:v>unq_product_count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Q.3!$B$11:$B$16</c:f>
              <c:strCache>
                <c:ptCount val="6"/>
                <c:pt idx="0">
                  <c:v>Accessories</c:v>
                </c:pt>
                <c:pt idx="1">
                  <c:v>Peripherals</c:v>
                </c:pt>
                <c:pt idx="2">
                  <c:v>Notebook</c:v>
                </c:pt>
                <c:pt idx="3">
                  <c:v>Storage</c:v>
                </c:pt>
                <c:pt idx="4">
                  <c:v>Desktop</c:v>
                </c:pt>
                <c:pt idx="5">
                  <c:v>Networking</c:v>
                </c:pt>
              </c:strCache>
            </c:strRef>
          </c:cat>
          <c:val>
            <c:numRef>
              <c:f>Q.3!$C$11:$C$16</c:f>
              <c:numCache>
                <c:formatCode>General</c:formatCode>
                <c:ptCount val="6"/>
                <c:pt idx="0">
                  <c:v>20</c:v>
                </c:pt>
                <c:pt idx="1">
                  <c:v>20</c:v>
                </c:pt>
                <c:pt idx="2">
                  <c:v>17</c:v>
                </c:pt>
                <c:pt idx="3">
                  <c:v>9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C6-4923-BE47-169D0BF2054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022785488"/>
        <c:axId val="1022786448"/>
      </c:barChart>
      <c:catAx>
        <c:axId val="1022785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786448"/>
        <c:crosses val="autoZero"/>
        <c:auto val="1"/>
        <c:lblAlgn val="ctr"/>
        <c:lblOffset val="100"/>
        <c:noMultiLvlLbl val="0"/>
      </c:catAx>
      <c:valAx>
        <c:axId val="10227864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22785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/>
              <a:t>Top 5</a:t>
            </a:r>
            <a:r>
              <a:rPr lang="en-US" baseline="0"/>
              <a:t> customers with Highest Pre Invoice Discount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Q.6!$E$10</c:f>
              <c:strCache>
                <c:ptCount val="1"/>
                <c:pt idx="0">
                  <c:v>avg_pid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Q.6!$C$11:$D$15</c:f>
              <c:multiLvlStrCache>
                <c:ptCount val="5"/>
                <c:lvl>
                  <c:pt idx="0">
                    <c:v>Flipkart</c:v>
                  </c:pt>
                  <c:pt idx="1">
                    <c:v>Viveks</c:v>
                  </c:pt>
                  <c:pt idx="2">
                    <c:v>Croma</c:v>
                  </c:pt>
                  <c:pt idx="3">
                    <c:v>Ezone</c:v>
                  </c:pt>
                  <c:pt idx="4">
                    <c:v>Amazon </c:v>
                  </c:pt>
                </c:lvl>
                <c:lvl>
                  <c:pt idx="0">
                    <c:v>90002009</c:v>
                  </c:pt>
                  <c:pt idx="1">
                    <c:v>90002006</c:v>
                  </c:pt>
                  <c:pt idx="2">
                    <c:v>90002002</c:v>
                  </c:pt>
                  <c:pt idx="3">
                    <c:v>90002003</c:v>
                  </c:pt>
                  <c:pt idx="4">
                    <c:v>90002016</c:v>
                  </c:pt>
                </c:lvl>
              </c:multiLvlStrCache>
            </c:multiLvlStrRef>
          </c:cat>
          <c:val>
            <c:numRef>
              <c:f>Q.6!$E$11:$E$15</c:f>
              <c:numCache>
                <c:formatCode>0.00</c:formatCode>
                <c:ptCount val="5"/>
                <c:pt idx="0">
                  <c:v>0.31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2E-4F27-A582-2CEE825C5C1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023014128"/>
        <c:axId val="1023016048"/>
      </c:barChart>
      <c:catAx>
        <c:axId val="102301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3016048"/>
        <c:crosses val="autoZero"/>
        <c:auto val="1"/>
        <c:lblAlgn val="ctr"/>
        <c:lblOffset val="100"/>
        <c:noMultiLvlLbl val="0"/>
      </c:catAx>
      <c:valAx>
        <c:axId val="1023016048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023014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Gross</a:t>
            </a:r>
            <a:r>
              <a:rPr lang="en-IN" baseline="0"/>
              <a:t> Sale Amount by Month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Q.7!$D$10</c:f>
              <c:strCache>
                <c:ptCount val="1"/>
                <c:pt idx="0">
                  <c:v>fiscal_year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  <c:cat>
            <c:strRef>
              <c:f>Q.7!$C$11:$C$34</c:f>
              <c:strCache>
                <c:ptCount val="24"/>
                <c:pt idx="0">
                  <c:v>September(2019)</c:v>
                </c:pt>
                <c:pt idx="1">
                  <c:v>October(2019)</c:v>
                </c:pt>
                <c:pt idx="2">
                  <c:v>November(2019)</c:v>
                </c:pt>
                <c:pt idx="3">
                  <c:v>December(2019)</c:v>
                </c:pt>
                <c:pt idx="4">
                  <c:v>January(2020)</c:v>
                </c:pt>
                <c:pt idx="5">
                  <c:v>February(2020)</c:v>
                </c:pt>
                <c:pt idx="6">
                  <c:v>March(2020)</c:v>
                </c:pt>
                <c:pt idx="7">
                  <c:v>April(2020)</c:v>
                </c:pt>
                <c:pt idx="8">
                  <c:v>May(2020)</c:v>
                </c:pt>
                <c:pt idx="9">
                  <c:v>June(2020)</c:v>
                </c:pt>
                <c:pt idx="10">
                  <c:v>July(2020)</c:v>
                </c:pt>
                <c:pt idx="11">
                  <c:v>August(2020)</c:v>
                </c:pt>
                <c:pt idx="12">
                  <c:v>September(2020)</c:v>
                </c:pt>
                <c:pt idx="13">
                  <c:v>October(2020)</c:v>
                </c:pt>
                <c:pt idx="14">
                  <c:v>November(2020)</c:v>
                </c:pt>
                <c:pt idx="15">
                  <c:v>December(2020)</c:v>
                </c:pt>
                <c:pt idx="16">
                  <c:v>January(2021)</c:v>
                </c:pt>
                <c:pt idx="17">
                  <c:v>February(2021)</c:v>
                </c:pt>
                <c:pt idx="18">
                  <c:v>March(2021)</c:v>
                </c:pt>
                <c:pt idx="19">
                  <c:v>April(2021)</c:v>
                </c:pt>
                <c:pt idx="20">
                  <c:v>May(2021)</c:v>
                </c:pt>
                <c:pt idx="21">
                  <c:v>June(2021)</c:v>
                </c:pt>
                <c:pt idx="22">
                  <c:v>July(2021)</c:v>
                </c:pt>
                <c:pt idx="23">
                  <c:v>August(2021)</c:v>
                </c:pt>
              </c:strCache>
            </c:strRef>
          </c:cat>
          <c:val>
            <c:numRef>
              <c:f>Q.7!$D$11:$D$34</c:f>
              <c:numCache>
                <c:formatCode>General</c:formatCode>
                <c:ptCount val="24"/>
                <c:pt idx="0">
                  <c:v>2020</c:v>
                </c:pt>
                <c:pt idx="1">
                  <c:v>2020</c:v>
                </c:pt>
                <c:pt idx="2">
                  <c:v>2020</c:v>
                </c:pt>
                <c:pt idx="3">
                  <c:v>2020</c:v>
                </c:pt>
                <c:pt idx="4">
                  <c:v>2020</c:v>
                </c:pt>
                <c:pt idx="5">
                  <c:v>2020</c:v>
                </c:pt>
                <c:pt idx="6">
                  <c:v>2020</c:v>
                </c:pt>
                <c:pt idx="7">
                  <c:v>2020</c:v>
                </c:pt>
                <c:pt idx="8">
                  <c:v>2020</c:v>
                </c:pt>
                <c:pt idx="9">
                  <c:v>2020</c:v>
                </c:pt>
                <c:pt idx="10">
                  <c:v>2020</c:v>
                </c:pt>
                <c:pt idx="11">
                  <c:v>2020</c:v>
                </c:pt>
                <c:pt idx="12">
                  <c:v>2021</c:v>
                </c:pt>
                <c:pt idx="13">
                  <c:v>2021</c:v>
                </c:pt>
                <c:pt idx="14">
                  <c:v>2021</c:v>
                </c:pt>
                <c:pt idx="15">
                  <c:v>2021</c:v>
                </c:pt>
                <c:pt idx="16">
                  <c:v>2021</c:v>
                </c:pt>
                <c:pt idx="17">
                  <c:v>2021</c:v>
                </c:pt>
                <c:pt idx="18">
                  <c:v>2021</c:v>
                </c:pt>
                <c:pt idx="19">
                  <c:v>2021</c:v>
                </c:pt>
                <c:pt idx="20">
                  <c:v>2021</c:v>
                </c:pt>
                <c:pt idx="21">
                  <c:v>2021</c:v>
                </c:pt>
                <c:pt idx="22">
                  <c:v>2021</c:v>
                </c:pt>
                <c:pt idx="23">
                  <c:v>2021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76-4F0C-BAD6-1E5DC54E3A2B}"/>
            </c:ext>
          </c:extLst>
        </c:ser>
        <c:ser>
          <c:idx val="1"/>
          <c:order val="1"/>
          <c:tx>
            <c:strRef>
              <c:f>Q.7!$E$10</c:f>
              <c:strCache>
                <c:ptCount val="1"/>
                <c:pt idx="0">
                  <c:v>gross_sale_amt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  <c:cat>
            <c:strRef>
              <c:f>Q.7!$C$11:$C$34</c:f>
              <c:strCache>
                <c:ptCount val="24"/>
                <c:pt idx="0">
                  <c:v>September(2019)</c:v>
                </c:pt>
                <c:pt idx="1">
                  <c:v>October(2019)</c:v>
                </c:pt>
                <c:pt idx="2">
                  <c:v>November(2019)</c:v>
                </c:pt>
                <c:pt idx="3">
                  <c:v>December(2019)</c:v>
                </c:pt>
                <c:pt idx="4">
                  <c:v>January(2020)</c:v>
                </c:pt>
                <c:pt idx="5">
                  <c:v>February(2020)</c:v>
                </c:pt>
                <c:pt idx="6">
                  <c:v>March(2020)</c:v>
                </c:pt>
                <c:pt idx="7">
                  <c:v>April(2020)</c:v>
                </c:pt>
                <c:pt idx="8">
                  <c:v>May(2020)</c:v>
                </c:pt>
                <c:pt idx="9">
                  <c:v>June(2020)</c:v>
                </c:pt>
                <c:pt idx="10">
                  <c:v>July(2020)</c:v>
                </c:pt>
                <c:pt idx="11">
                  <c:v>August(2020)</c:v>
                </c:pt>
                <c:pt idx="12">
                  <c:v>September(2020)</c:v>
                </c:pt>
                <c:pt idx="13">
                  <c:v>October(2020)</c:v>
                </c:pt>
                <c:pt idx="14">
                  <c:v>November(2020)</c:v>
                </c:pt>
                <c:pt idx="15">
                  <c:v>December(2020)</c:v>
                </c:pt>
                <c:pt idx="16">
                  <c:v>January(2021)</c:v>
                </c:pt>
                <c:pt idx="17">
                  <c:v>February(2021)</c:v>
                </c:pt>
                <c:pt idx="18">
                  <c:v>March(2021)</c:v>
                </c:pt>
                <c:pt idx="19">
                  <c:v>April(2021)</c:v>
                </c:pt>
                <c:pt idx="20">
                  <c:v>May(2021)</c:v>
                </c:pt>
                <c:pt idx="21">
                  <c:v>June(2021)</c:v>
                </c:pt>
                <c:pt idx="22">
                  <c:v>July(2021)</c:v>
                </c:pt>
                <c:pt idx="23">
                  <c:v>August(2021)</c:v>
                </c:pt>
              </c:strCache>
            </c:strRef>
          </c:cat>
          <c:val>
            <c:numRef>
              <c:f>Q.7!$E$11:$E$34</c:f>
              <c:numCache>
                <c:formatCode>General</c:formatCode>
                <c:ptCount val="24"/>
                <c:pt idx="0">
                  <c:v>9092670.3391999993</c:v>
                </c:pt>
                <c:pt idx="1">
                  <c:v>10378637.596100001</c:v>
                </c:pt>
                <c:pt idx="2">
                  <c:v>15231894.9669</c:v>
                </c:pt>
                <c:pt idx="3">
                  <c:v>9755795.0577000007</c:v>
                </c:pt>
                <c:pt idx="4">
                  <c:v>9584951.9393000007</c:v>
                </c:pt>
                <c:pt idx="5">
                  <c:v>8083995.5478999997</c:v>
                </c:pt>
                <c:pt idx="6">
                  <c:v>766976.45310000004</c:v>
                </c:pt>
                <c:pt idx="7">
                  <c:v>800071.95429999998</c:v>
                </c:pt>
                <c:pt idx="8">
                  <c:v>1586964.4768000001</c:v>
                </c:pt>
                <c:pt idx="9">
                  <c:v>3429736.5712000001</c:v>
                </c:pt>
                <c:pt idx="10">
                  <c:v>5151815.4019999998</c:v>
                </c:pt>
                <c:pt idx="11">
                  <c:v>5638281.8287000004</c:v>
                </c:pt>
                <c:pt idx="12">
                  <c:v>19530271.3028</c:v>
                </c:pt>
                <c:pt idx="13">
                  <c:v>21016218.2095</c:v>
                </c:pt>
                <c:pt idx="14">
                  <c:v>32247289.794599999</c:v>
                </c:pt>
                <c:pt idx="15">
                  <c:v>20409063.176899999</c:v>
                </c:pt>
                <c:pt idx="16">
                  <c:v>19570701.710200001</c:v>
                </c:pt>
                <c:pt idx="17">
                  <c:v>15986603.8883</c:v>
                </c:pt>
                <c:pt idx="18">
                  <c:v>19149624.923900001</c:v>
                </c:pt>
                <c:pt idx="19">
                  <c:v>11483530.303200001</c:v>
                </c:pt>
                <c:pt idx="20">
                  <c:v>19204309.409499999</c:v>
                </c:pt>
                <c:pt idx="21">
                  <c:v>15457579.662599999</c:v>
                </c:pt>
                <c:pt idx="22">
                  <c:v>19044968.816399999</c:v>
                </c:pt>
                <c:pt idx="23">
                  <c:v>11324548.3409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76-4F0C-BAD6-1E5DC54E3A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7241664"/>
        <c:axId val="1207243104"/>
      </c:areaChart>
      <c:catAx>
        <c:axId val="1207241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243104"/>
        <c:crosses val="autoZero"/>
        <c:auto val="1"/>
        <c:lblAlgn val="ctr"/>
        <c:lblOffset val="100"/>
        <c:noMultiLvlLbl val="0"/>
      </c:catAx>
      <c:valAx>
        <c:axId val="1207243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2416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Q.9!$E$10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590-4D57-8693-067D603D17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590-4D57-8693-067D603D17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590-4D57-8693-067D603D172C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Q.9!$C$11:$C$13</c:f>
              <c:strCache>
                <c:ptCount val="3"/>
                <c:pt idx="0">
                  <c:v>Retailer</c:v>
                </c:pt>
                <c:pt idx="1">
                  <c:v>Direct</c:v>
                </c:pt>
                <c:pt idx="2">
                  <c:v>Distributor</c:v>
                </c:pt>
              </c:strCache>
            </c:strRef>
          </c:cat>
          <c:val>
            <c:numRef>
              <c:f>Q.9!$E$11:$E$13</c:f>
              <c:numCache>
                <c:formatCode>General</c:formatCode>
                <c:ptCount val="3"/>
                <c:pt idx="0">
                  <c:v>73.22</c:v>
                </c:pt>
                <c:pt idx="1">
                  <c:v>15.47</c:v>
                </c:pt>
                <c:pt idx="2">
                  <c:v>11.31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590-4D57-8693-067D603D17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data validation.xlsx]Q.10!PivotTable2</c:name>
    <c:fmtId val="8"/>
  </c:pivotSource>
  <c:chart>
    <c:title>
      <c:tx>
        <c:strRef>
          <c:f>Q.10!$L$16</c:f>
          <c:strCache>
            <c:ptCount val="1"/>
            <c:pt idx="0">
              <c:v>PC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Q.10!$L$16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Q.10!$L$16</c:f>
              <c:multiLvlStrCache>
                <c:ptCount val="3"/>
                <c:lvl>
                  <c:pt idx="0">
                    <c:v>A4218110202</c:v>
                  </c:pt>
                  <c:pt idx="1">
                    <c:v>A4218110208</c:v>
                  </c:pt>
                  <c:pt idx="2">
                    <c:v>A4319110306</c:v>
                  </c:pt>
                </c:lvl>
                <c:lvl>
                  <c:pt idx="0">
                    <c:v>AQ Digit</c:v>
                  </c:pt>
                  <c:pt idx="2">
                    <c:v>AQ Velocity</c:v>
                  </c:pt>
                </c:lvl>
              </c:multiLvlStrCache>
            </c:multiLvlStrRef>
          </c:cat>
          <c:val>
            <c:numRef>
              <c:f>Q.10!$L$16</c:f>
              <c:numCache>
                <c:formatCode>General</c:formatCode>
                <c:ptCount val="3"/>
                <c:pt idx="0">
                  <c:v>17434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EC-431D-A5AF-4B55775FEFFC}"/>
            </c:ext>
          </c:extLst>
        </c:ser>
        <c:ser>
          <c:idx val="1"/>
          <c:order val="1"/>
          <c:tx>
            <c:strRef>
              <c:f>Q.10!$L$16</c:f>
              <c:strCache>
                <c:ptCount val="1"/>
                <c:pt idx="0">
                  <c:v>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Q.10!$L$16</c:f>
              <c:multiLvlStrCache>
                <c:ptCount val="3"/>
                <c:lvl>
                  <c:pt idx="0">
                    <c:v>A4218110202</c:v>
                  </c:pt>
                  <c:pt idx="1">
                    <c:v>A4218110208</c:v>
                  </c:pt>
                  <c:pt idx="2">
                    <c:v>A4319110306</c:v>
                  </c:pt>
                </c:lvl>
                <c:lvl>
                  <c:pt idx="0">
                    <c:v>AQ Digit</c:v>
                  </c:pt>
                  <c:pt idx="2">
                    <c:v>AQ Velocity</c:v>
                  </c:pt>
                </c:lvl>
              </c:multiLvlStrCache>
            </c:multiLvlStrRef>
          </c:cat>
          <c:val>
            <c:numRef>
              <c:f>Q.10!$L$16</c:f>
              <c:numCache>
                <c:formatCode>General</c:formatCode>
                <c:ptCount val="3"/>
                <c:pt idx="2">
                  <c:v>17280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EC-431D-A5AF-4B55775FEFFC}"/>
            </c:ext>
          </c:extLst>
        </c:ser>
        <c:ser>
          <c:idx val="2"/>
          <c:order val="2"/>
          <c:tx>
            <c:strRef>
              <c:f>Q.10!$L$16</c:f>
              <c:strCache>
                <c:ptCount val="1"/>
                <c:pt idx="0">
                  <c:v>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Q.10!$L$16</c:f>
              <c:multiLvlStrCache>
                <c:ptCount val="3"/>
                <c:lvl>
                  <c:pt idx="0">
                    <c:v>A4218110202</c:v>
                  </c:pt>
                  <c:pt idx="1">
                    <c:v>A4218110208</c:v>
                  </c:pt>
                  <c:pt idx="2">
                    <c:v>A4319110306</c:v>
                  </c:pt>
                </c:lvl>
                <c:lvl>
                  <c:pt idx="0">
                    <c:v>AQ Digit</c:v>
                  </c:pt>
                  <c:pt idx="2">
                    <c:v>AQ Velocity</c:v>
                  </c:pt>
                </c:lvl>
              </c:multiLvlStrCache>
            </c:multiLvlStrRef>
          </c:cat>
          <c:val>
            <c:numRef>
              <c:f>Q.10!$L$16</c:f>
              <c:numCache>
                <c:formatCode>General</c:formatCode>
                <c:ptCount val="3"/>
                <c:pt idx="1">
                  <c:v>17275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EC-431D-A5AF-4B55775FEF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41091728"/>
        <c:axId val="1025631472"/>
      </c:barChart>
      <c:catAx>
        <c:axId val="114109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631472"/>
        <c:crosses val="autoZero"/>
        <c:auto val="1"/>
        <c:lblAlgn val="ctr"/>
        <c:lblOffset val="100"/>
        <c:noMultiLvlLbl val="0"/>
      </c:catAx>
      <c:valAx>
        <c:axId val="10256314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109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Q.8!$C$11:$C$14</cx:f>
        <cx:lvl ptCount="4">
          <cx:pt idx="0">Q1</cx:pt>
          <cx:pt idx="1">Q2</cx:pt>
          <cx:pt idx="2">Q4</cx:pt>
          <cx:pt idx="3">Q3</cx:pt>
        </cx:lvl>
      </cx:strDim>
      <cx:numDim type="val">
        <cx:f>Q.8!$D$11:$D$14</cx:f>
        <cx:lvl ptCount="4" formatCode="General">
          <cx:pt idx="0">7005619</cx:pt>
          <cx:pt idx="1">6649642</cx:pt>
          <cx:pt idx="2">5042541</cx:pt>
          <cx:pt idx="3">2075087</cx:pt>
        </cx:lvl>
      </cx:numDim>
    </cx:data>
  </cx:chartData>
  <cx:chart>
    <cx:title pos="t" align="ctr" overlay="0">
      <cx:tx>
        <cx:txData>
          <cx:v>Total Sold Quantity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800" b="1" i="0" u="none" strike="noStrike" baseline="0">
              <a:solidFill>
                <a:sysClr val="windowText" lastClr="000000">
                  <a:lumMod val="75000"/>
                  <a:lumOff val="25000"/>
                </a:sysClr>
              </a:solidFill>
              <a:latin typeface="Calibri" panose="020F0502020204030204"/>
            </a:rPr>
            <a:t>Total Sold Quantity</a:t>
          </a:r>
        </a:p>
      </cx:txPr>
    </cx:title>
    <cx:plotArea>
      <cx:plotAreaRegion>
        <cx:series layoutId="funnel" uniqueId="{936AD163-8661-4241-9D20-47EEB59B81FE}">
          <cx:tx>
            <cx:txData>
              <cx:f>Q.8!$D$10</cx:f>
              <cx:v>total_sold_quantity</cx:v>
            </cx:txData>
          </cx:tx>
          <cx:dataLabels>
            <cx:visibility seriesName="0" categoryName="0" value="1"/>
          </cx:dataLabels>
          <cx:dataId val="0"/>
        </cx:series>
      </cx:plotAreaRegion>
      <cx:axis id="0">
        <cx:catScaling gapWidth="0.150000006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8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2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dk1"/>
    </cs:fontRef>
    <cs:defRPr sz="9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4D44B-5AA8-4FED-A7E2-407CCFE823A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55F36-DA89-4F02-B6B5-93317348A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58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40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743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A8DB-4DB8-DA52-B8D8-856C67F6D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B62AE-AB4E-0A5C-CEE8-E30CABB57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02D6E-EF70-A0E8-2B34-0789EDDF1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0CEAE-6B11-C88D-70BE-C70F877F8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386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04362-6C96-A41C-3689-336FC968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E9AA3-5C6D-A477-CD6B-11AA2D4E9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E0D7A-057B-E777-70CB-7852FA083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52111-CD0C-4572-3679-1E7AEEE8C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013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4B98-20CA-CECD-7748-FDB584C5C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7046B-8827-C0B8-797F-677CA7162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9A17B-CA65-EB27-E04D-B0DC157D5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D3A8A-3D6F-DCB2-7C51-FA42EC109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99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11B95-106A-1ADE-43D9-3CEC05D4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8338D-86B3-723F-CCB8-291E90D3C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C2519-8708-C143-51F3-6AD7AECF7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D180D-3138-432E-6161-BBF56A8FC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687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5BCD-355E-2ECD-EDF1-F9731900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E930F-4EC8-9BF6-0619-44FFDDFFA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0BA69-F077-CE74-C157-066278721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14B72-BA1E-AFDA-5FB7-C854AA1A9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576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8845-A29D-6CD7-A8AA-5BA30E33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FA419-3713-E148-D0A0-38021A5B2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8F1A1-1E90-3C88-451D-95370A964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30C76-6E82-D98A-8E5C-EAB23E54D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029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21214-E7D1-B15B-6995-CB55157E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14B15-6B2E-2C44-CD81-CC8357905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46020-96EC-E25A-4A47-7F33B3692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68456-159F-9A4B-F874-8636DA490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44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5D62-2BA8-1AC5-038E-2C82ACAB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C2067-2BE6-2ADC-8FAC-6C80FE283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5143C-2557-3C55-2293-E33CEBAB2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2861E-07DC-2210-154E-50180637D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781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5BD31-14BA-A06C-9579-4A849867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338A5-EDD1-EE20-F1B8-11C7FDA1F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D39AE-B7AD-7D5A-7359-12EA19663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8661F-3619-DD9C-7FEB-5E081A977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115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86D9D-0493-1511-B3F3-8FCB5EDE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3402C-973A-32E9-5254-626ADAA09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CDB38-21B5-E8CC-56DA-0B4C6C45B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E287E-ACDF-2342-A941-7727C9783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01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1901-8E32-D4A0-C28E-D153BEE7D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F7478-86CB-5D49-43A4-F890E3C8C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5882A-82F7-55E9-B29A-CCA987FC8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0E71F-34DD-8356-9FAF-2F2F9B0F2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5F36-DA89-4F02-B6B5-93317348A4B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301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9F0BF-41F6-41A1-A284-B7544A79C7BC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5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731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42B0-F9D6-421C-8ABA-865CC6612C6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825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749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E20C-A3D6-4F50-84A7-021658CA43B4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3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58E5-90F1-4587-836C-FE5E2CF0F528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830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E1DE-E846-4955-AC6B-C650EA30FD23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Gurjeet Singh Sodhi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5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38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19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31028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6544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2371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578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2661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Gurjeet Singh Sodhi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140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3CAFFFC-5F63-4BC3-9836-301A141311ED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Gurjeet Singh Sodhi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2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microsoft.com/office/2014/relationships/chartEx" Target="../charts/chartEx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A69CB8-FC07-8A9C-FD64-3A94F7647D7A}"/>
              </a:ext>
            </a:extLst>
          </p:cNvPr>
          <p:cNvSpPr txBox="1">
            <a:spLocks/>
          </p:cNvSpPr>
          <p:nvPr/>
        </p:nvSpPr>
        <p:spPr>
          <a:xfrm>
            <a:off x="648936" y="2674453"/>
            <a:ext cx="11104040" cy="185560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6400" dirty="0" err="1"/>
              <a:t>sql</a:t>
            </a:r>
            <a:r>
              <a:rPr lang="en-IN" sz="6400" dirty="0"/>
              <a:t>-business-insights-project</a:t>
            </a:r>
            <a:br>
              <a:rPr lang="en-IN" sz="31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31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2F967F3-9E52-7431-A539-B0BAF0EF815B}"/>
              </a:ext>
            </a:extLst>
          </p:cNvPr>
          <p:cNvSpPr txBox="1">
            <a:spLocks/>
          </p:cNvSpPr>
          <p:nvPr/>
        </p:nvSpPr>
        <p:spPr>
          <a:xfrm>
            <a:off x="648936" y="4830650"/>
            <a:ext cx="3420424" cy="3165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1" dirty="0"/>
              <a:t>Presenter:  Swapnil </a:t>
            </a:r>
            <a:r>
              <a:rPr lang="en-US" sz="1400" b="1" dirty="0" err="1"/>
              <a:t>chavan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250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6A05E-CEF4-5B5A-C910-3A06E77D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EC170-B0DB-3E84-CAAB-1341C547422D}"/>
              </a:ext>
            </a:extLst>
          </p:cNvPr>
          <p:cNvSpPr txBox="1"/>
          <p:nvPr/>
        </p:nvSpPr>
        <p:spPr>
          <a:xfrm>
            <a:off x="924443" y="1023257"/>
            <a:ext cx="3732902" cy="457045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Our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36C0E-7443-D99E-10E9-F29B45D5A0B4}"/>
              </a:ext>
            </a:extLst>
          </p:cNvPr>
          <p:cNvSpPr txBox="1"/>
          <p:nvPr/>
        </p:nvSpPr>
        <p:spPr>
          <a:xfrm>
            <a:off x="5252560" y="1023257"/>
            <a:ext cx="6025645" cy="457045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</a:pPr>
            <a:r>
              <a:rPr lang="en-US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Atliq</a:t>
            </a: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Hardware is one of the leading computer hardware producers in India as well as 26 other countries across the globe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</a:pP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Manufactures products under 3 major divisions i.e., Peripherals &amp; Accessories, PC, Networking &amp; Storage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</a:pP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We have a total of 74 Customers like Neptune, Sage, Leader, Vijay Sales etc. across all markets/countries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endParaRPr lang="en-US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570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3B419-EF74-AE27-54E1-7ED3BCDE2AFD}"/>
              </a:ext>
            </a:extLst>
          </p:cNvPr>
          <p:cNvSpPr txBox="1"/>
          <p:nvPr/>
        </p:nvSpPr>
        <p:spPr>
          <a:xfrm>
            <a:off x="924443" y="1023257"/>
            <a:ext cx="3732902" cy="457045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F3917-FD25-8109-B937-444046EA20A4}"/>
              </a:ext>
            </a:extLst>
          </p:cNvPr>
          <p:cNvSpPr txBox="1"/>
          <p:nvPr/>
        </p:nvSpPr>
        <p:spPr>
          <a:xfrm>
            <a:off x="5252560" y="1023257"/>
            <a:ext cx="6025645" cy="457045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Assist the management team to gain more insights about the business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Take data-driven decisions to scale business</a:t>
            </a:r>
          </a:p>
        </p:txBody>
      </p:sp>
    </p:spTree>
    <p:extLst>
      <p:ext uri="{BB962C8B-B14F-4D97-AF65-F5344CB8AC3E}">
        <p14:creationId xmlns:p14="http://schemas.microsoft.com/office/powerpoint/2010/main" val="280683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3B419-EF74-AE27-54E1-7ED3BCDE2AFD}"/>
              </a:ext>
            </a:extLst>
          </p:cNvPr>
          <p:cNvSpPr txBox="1"/>
          <p:nvPr/>
        </p:nvSpPr>
        <p:spPr>
          <a:xfrm>
            <a:off x="924443" y="1023257"/>
            <a:ext cx="3732902" cy="457045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About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F3917-FD25-8109-B937-444046EA20A4}"/>
              </a:ext>
            </a:extLst>
          </p:cNvPr>
          <p:cNvSpPr txBox="1"/>
          <p:nvPr/>
        </p:nvSpPr>
        <p:spPr>
          <a:xfrm>
            <a:off x="5252560" y="1023257"/>
            <a:ext cx="6025645" cy="457045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</a:pP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We have 4 fact tables i.e., sales monthly, manufacturing cost, pre invoice deductions, gross price which have measurable metrics and 2-dimension table i.e., customer details and product details.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</a:pP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Fiscal year for </a:t>
            </a:r>
            <a:r>
              <a:rPr lang="en-US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Atliq</a:t>
            </a: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Hardware starts from 1</a:t>
            </a:r>
            <a:r>
              <a:rPr lang="en-US" baseline="30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st</a:t>
            </a: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September and ends on 31</a:t>
            </a:r>
            <a:r>
              <a:rPr lang="en-US" baseline="30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st</a:t>
            </a: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August each year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q"/>
            </a:pPr>
            <a:r>
              <a:rPr 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Sales data is available for fiscal year 2020-2021</a:t>
            </a:r>
          </a:p>
        </p:txBody>
      </p:sp>
    </p:spTree>
    <p:extLst>
      <p:ext uri="{BB962C8B-B14F-4D97-AF65-F5344CB8AC3E}">
        <p14:creationId xmlns:p14="http://schemas.microsoft.com/office/powerpoint/2010/main" val="2563962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66F50-C018-8A3C-41A6-B7398228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3E3EBD-CE34-79EF-7A69-EE6B12D096D4}"/>
              </a:ext>
            </a:extLst>
          </p:cNvPr>
          <p:cNvSpPr txBox="1"/>
          <p:nvPr/>
        </p:nvSpPr>
        <p:spPr>
          <a:xfrm>
            <a:off x="1143001" y="1081980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1: </a:t>
            </a:r>
            <a:r>
              <a:rPr lang="en-US" sz="1400" dirty="0"/>
              <a:t>Provide the list of markets in which customer "</a:t>
            </a:r>
            <a:r>
              <a:rPr lang="en-US" sz="1400" dirty="0" err="1"/>
              <a:t>Atliq</a:t>
            </a:r>
            <a:r>
              <a:rPr lang="en-US" sz="1400" dirty="0"/>
              <a:t> Exclusive" operates its business in the APAC region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454B4-AFBF-A3BE-6070-548E42C513F3}"/>
              </a:ext>
            </a:extLst>
          </p:cNvPr>
          <p:cNvSpPr txBox="1"/>
          <p:nvPr/>
        </p:nvSpPr>
        <p:spPr>
          <a:xfrm>
            <a:off x="412388" y="2071491"/>
            <a:ext cx="2377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CAC8D-A85E-A1B3-6FF5-2E2C412D5591}"/>
              </a:ext>
            </a:extLst>
          </p:cNvPr>
          <p:cNvSpPr txBox="1"/>
          <p:nvPr/>
        </p:nvSpPr>
        <p:spPr>
          <a:xfrm>
            <a:off x="1143001" y="2939990"/>
            <a:ext cx="60946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400" b="1" dirty="0"/>
              <a:t>SELECT</a:t>
            </a:r>
            <a:r>
              <a:rPr lang="en-IN" sz="1400" dirty="0"/>
              <a:t> distinct market </a:t>
            </a:r>
            <a:br>
              <a:rPr lang="en-IN" sz="1400" dirty="0"/>
            </a:br>
            <a:r>
              <a:rPr lang="en-IN" sz="1400" dirty="0"/>
              <a:t>        </a:t>
            </a:r>
            <a:r>
              <a:rPr lang="en-IN" sz="1400" b="1" dirty="0"/>
              <a:t>FROM</a:t>
            </a:r>
            <a:r>
              <a:rPr lang="en-IN" sz="1400" dirty="0"/>
              <a:t> </a:t>
            </a:r>
            <a:r>
              <a:rPr lang="en-IN" sz="1400" dirty="0" err="1"/>
              <a:t>dim_customer</a:t>
            </a: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b="1" dirty="0"/>
              <a:t>WHERE</a:t>
            </a:r>
            <a:r>
              <a:rPr lang="en-IN" sz="1400" dirty="0"/>
              <a:t> customer = "</a:t>
            </a:r>
            <a:r>
              <a:rPr lang="en-IN" sz="1400" dirty="0" err="1"/>
              <a:t>Atliq</a:t>
            </a:r>
            <a:r>
              <a:rPr lang="en-IN" sz="1400" dirty="0"/>
              <a:t> Exclusive" AND region = "APAC"</a:t>
            </a: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b="1" dirty="0"/>
              <a:t>ORDER BY</a:t>
            </a:r>
            <a:r>
              <a:rPr lang="en-IN" sz="1400" dirty="0"/>
              <a:t> market;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04EA40-FF4A-A2C3-169F-1BC5748D2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00" y="2515065"/>
            <a:ext cx="1592487" cy="238873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3020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87A27-4CEC-9E8F-9F36-1A4DFA57F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5435EF-C78A-DC1E-3994-CA4CD8D1E6E7}"/>
              </a:ext>
            </a:extLst>
          </p:cNvPr>
          <p:cNvSpPr txBox="1"/>
          <p:nvPr/>
        </p:nvSpPr>
        <p:spPr>
          <a:xfrm>
            <a:off x="1148593" y="898059"/>
            <a:ext cx="95445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2: </a:t>
            </a:r>
            <a:r>
              <a:rPr lang="en-IN" sz="1400" b="1" dirty="0"/>
              <a:t> What is the percentage of unique product increase in 2021 vs. 2020?</a:t>
            </a:r>
            <a:endParaRPr lang="en-IN" sz="1400" dirty="0"/>
          </a:p>
          <a:p>
            <a:r>
              <a:rPr lang="en-IN" sz="1400" b="1" dirty="0"/>
              <a:t> The final output contains these fields, </a:t>
            </a:r>
            <a:endParaRPr lang="en-IN" sz="1400" dirty="0"/>
          </a:p>
          <a:p>
            <a:r>
              <a:rPr lang="en-IN" sz="1400" b="1" dirty="0"/>
              <a:t>unique_products_2020 </a:t>
            </a:r>
            <a:endParaRPr lang="en-IN" sz="1400" dirty="0"/>
          </a:p>
          <a:p>
            <a:r>
              <a:rPr lang="en-IN" sz="1400" b="1" dirty="0"/>
              <a:t>unique_products_2021 </a:t>
            </a:r>
            <a:endParaRPr lang="en-IN" sz="1400" dirty="0"/>
          </a:p>
          <a:p>
            <a:r>
              <a:rPr lang="en-IN" sz="1400" b="1" dirty="0" err="1"/>
              <a:t>percentage_chg</a:t>
            </a:r>
            <a:r>
              <a:rPr lang="en-IN" sz="1400" b="1" dirty="0"/>
              <a:t> 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CCC14-A091-D2B4-16D1-D0F8F7CF664E}"/>
              </a:ext>
            </a:extLst>
          </p:cNvPr>
          <p:cNvSpPr txBox="1"/>
          <p:nvPr/>
        </p:nvSpPr>
        <p:spPr>
          <a:xfrm>
            <a:off x="278165" y="2334090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380D7-6F2A-829F-1B21-1A42005C1A0B}"/>
              </a:ext>
            </a:extLst>
          </p:cNvPr>
          <p:cNvSpPr txBox="1"/>
          <p:nvPr/>
        </p:nvSpPr>
        <p:spPr>
          <a:xfrm>
            <a:off x="1148593" y="3040658"/>
            <a:ext cx="609460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with </a:t>
            </a:r>
            <a:endParaRPr lang="en-IN" sz="1100" dirty="0"/>
          </a:p>
          <a:p>
            <a:r>
              <a:rPr lang="en-IN" sz="1100" dirty="0"/>
              <a:t>cte20 </a:t>
            </a:r>
            <a:r>
              <a:rPr lang="en-IN" sz="1100" b="1" dirty="0"/>
              <a:t>as</a:t>
            </a:r>
            <a:endParaRPr lang="en-IN" sz="1100" dirty="0"/>
          </a:p>
          <a:p>
            <a:r>
              <a:rPr lang="en-IN" sz="1100" dirty="0"/>
              <a:t>(select </a:t>
            </a:r>
            <a:r>
              <a:rPr lang="en-IN" sz="1100" b="1" i="1" dirty="0"/>
              <a:t>count</a:t>
            </a:r>
            <a:r>
              <a:rPr lang="en-IN" sz="1100" dirty="0"/>
              <a:t>(distinct </a:t>
            </a:r>
            <a:r>
              <a:rPr lang="en-IN" sz="1100" dirty="0" err="1"/>
              <a:t>product_code</a:t>
            </a:r>
            <a:r>
              <a:rPr lang="en-IN" sz="1100" dirty="0"/>
              <a:t>) </a:t>
            </a:r>
            <a:r>
              <a:rPr lang="en-IN" sz="1100" b="1" dirty="0"/>
              <a:t>as</a:t>
            </a:r>
            <a:r>
              <a:rPr lang="en-IN" sz="1100" dirty="0"/>
              <a:t> unq_product_2020 </a:t>
            </a:r>
          </a:p>
          <a:p>
            <a:r>
              <a:rPr lang="en-IN" sz="1100" b="1" dirty="0"/>
              <a:t>from</a:t>
            </a:r>
            <a:r>
              <a:rPr lang="en-IN" sz="1100" dirty="0"/>
              <a:t> </a:t>
            </a:r>
            <a:r>
              <a:rPr lang="en-IN" sz="1100" dirty="0" err="1"/>
              <a:t>fact_sales_monthly</a:t>
            </a:r>
            <a:endParaRPr lang="en-IN" sz="1100" dirty="0"/>
          </a:p>
          <a:p>
            <a:r>
              <a:rPr lang="en-IN" sz="1100" dirty="0"/>
              <a:t>           </a:t>
            </a:r>
            <a:r>
              <a:rPr lang="en-IN" sz="1100" b="1" dirty="0"/>
              <a:t>where</a:t>
            </a:r>
            <a:r>
              <a:rPr lang="en-IN" sz="1100" dirty="0"/>
              <a:t> </a:t>
            </a:r>
            <a:r>
              <a:rPr lang="en-IN" sz="1100" dirty="0" err="1"/>
              <a:t>fiscal_year</a:t>
            </a:r>
            <a:r>
              <a:rPr lang="en-IN" sz="1100" dirty="0"/>
              <a:t> = 2020),</a:t>
            </a:r>
          </a:p>
          <a:p>
            <a:r>
              <a:rPr lang="en-IN" sz="1100" dirty="0"/>
              <a:t>cte21 </a:t>
            </a:r>
            <a:r>
              <a:rPr lang="en-IN" sz="1100" b="1" dirty="0"/>
              <a:t>as</a:t>
            </a:r>
            <a:endParaRPr lang="en-IN" sz="1100" dirty="0"/>
          </a:p>
          <a:p>
            <a:r>
              <a:rPr lang="en-IN" sz="1100" dirty="0"/>
              <a:t>(select </a:t>
            </a:r>
            <a:r>
              <a:rPr lang="en-IN" sz="1100" b="1" i="1" dirty="0"/>
              <a:t>count</a:t>
            </a:r>
            <a:r>
              <a:rPr lang="en-IN" sz="1100" dirty="0"/>
              <a:t>(distinct </a:t>
            </a:r>
            <a:r>
              <a:rPr lang="en-IN" sz="1100" dirty="0" err="1"/>
              <a:t>product_code</a:t>
            </a:r>
            <a:r>
              <a:rPr lang="en-IN" sz="1100" dirty="0"/>
              <a:t>) </a:t>
            </a:r>
            <a:r>
              <a:rPr lang="en-IN" sz="1100" b="1" dirty="0"/>
              <a:t>as</a:t>
            </a:r>
            <a:r>
              <a:rPr lang="en-IN" sz="1100" dirty="0"/>
              <a:t> unq_product_2021</a:t>
            </a:r>
          </a:p>
          <a:p>
            <a:r>
              <a:rPr lang="en-IN" sz="1100" dirty="0"/>
              <a:t>from </a:t>
            </a:r>
            <a:r>
              <a:rPr lang="en-IN" sz="1100" dirty="0" err="1"/>
              <a:t>fact_sales_monthly</a:t>
            </a:r>
            <a:endParaRPr lang="en-IN" sz="1100" dirty="0"/>
          </a:p>
          <a:p>
            <a:r>
              <a:rPr lang="en-IN" sz="1100" dirty="0"/>
              <a:t>           </a:t>
            </a:r>
            <a:r>
              <a:rPr lang="en-IN" sz="1100" b="1" dirty="0"/>
              <a:t>where</a:t>
            </a:r>
            <a:r>
              <a:rPr lang="en-IN" sz="1100" dirty="0"/>
              <a:t> </a:t>
            </a:r>
            <a:r>
              <a:rPr lang="en-IN" sz="1100" dirty="0" err="1"/>
              <a:t>fiscal_year</a:t>
            </a:r>
            <a:r>
              <a:rPr lang="en-IN" sz="1100" dirty="0"/>
              <a:t> = 2021)</a:t>
            </a:r>
          </a:p>
          <a:p>
            <a:r>
              <a:rPr lang="en-IN" sz="1100" dirty="0"/>
              <a:t> </a:t>
            </a:r>
          </a:p>
          <a:p>
            <a:r>
              <a:rPr lang="en-IN" sz="1100" b="1" dirty="0"/>
              <a:t>select</a:t>
            </a:r>
            <a:r>
              <a:rPr lang="en-IN" sz="1100" dirty="0"/>
              <a:t> *,        </a:t>
            </a:r>
          </a:p>
          <a:p>
            <a:r>
              <a:rPr lang="en-IN" sz="1100" b="1" i="1" dirty="0"/>
              <a:t>round</a:t>
            </a:r>
            <a:r>
              <a:rPr lang="en-IN" sz="1100" dirty="0"/>
              <a:t>((unq_product_2021 - unq_product_2020)/unq_product_2020*100,1) </a:t>
            </a:r>
            <a:r>
              <a:rPr lang="en-IN" sz="1100" b="1" dirty="0"/>
              <a:t>as</a:t>
            </a:r>
            <a:r>
              <a:rPr lang="en-IN" sz="1100" dirty="0"/>
              <a:t> </a:t>
            </a:r>
            <a:r>
              <a:rPr lang="en-IN" sz="1100" dirty="0" err="1"/>
              <a:t>pct_chg</a:t>
            </a:r>
            <a:endParaRPr lang="en-IN" sz="1100" dirty="0"/>
          </a:p>
          <a:p>
            <a:r>
              <a:rPr lang="en-IN" sz="1100" b="1" dirty="0"/>
              <a:t>from</a:t>
            </a:r>
            <a:r>
              <a:rPr lang="en-IN" sz="1100" dirty="0"/>
              <a:t> cte20</a:t>
            </a:r>
          </a:p>
          <a:p>
            <a:r>
              <a:rPr lang="en-IN" sz="1100" dirty="0"/>
              <a:t>           </a:t>
            </a:r>
            <a:r>
              <a:rPr lang="en-IN" sz="1100" b="1" dirty="0"/>
              <a:t>cross join</a:t>
            </a:r>
            <a:r>
              <a:rPr lang="en-IN" sz="1100" dirty="0"/>
              <a:t> cte21;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9EC9CC-E57B-4C24-86A5-97B941057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318745"/>
              </p:ext>
            </p:extLst>
          </p:nvPr>
        </p:nvGraphicFramePr>
        <p:xfrm>
          <a:off x="7243195" y="2151210"/>
          <a:ext cx="3314700" cy="36576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168432906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412695376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80644886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unq_product_2020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unq_product_2021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pct_chg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948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70783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CA2A9BE-25A8-F673-3012-325601E5FA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0511542"/>
              </p:ext>
            </p:extLst>
          </p:nvPr>
        </p:nvGraphicFramePr>
        <p:xfrm>
          <a:off x="7243195" y="2914186"/>
          <a:ext cx="3375660" cy="2853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6756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20EC-CFDB-7D88-4C4C-9B3614B1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6E2359-D4FB-7A8E-2C2D-5EA069AC76CD}"/>
              </a:ext>
            </a:extLst>
          </p:cNvPr>
          <p:cNvSpPr txBox="1"/>
          <p:nvPr/>
        </p:nvSpPr>
        <p:spPr>
          <a:xfrm>
            <a:off x="1148593" y="898059"/>
            <a:ext cx="95445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3: </a:t>
            </a:r>
            <a:r>
              <a:rPr lang="en-IN" sz="1400" b="1" dirty="0"/>
              <a:t> Provide a report with all the </a:t>
            </a:r>
            <a:r>
              <a:rPr lang="en-IN" sz="1400" b="1" u="sng" dirty="0"/>
              <a:t>unique product counts</a:t>
            </a:r>
            <a:r>
              <a:rPr lang="en-IN" sz="1400" b="1" dirty="0"/>
              <a:t> for each </a:t>
            </a:r>
            <a:r>
              <a:rPr lang="en-IN" sz="1400" b="1" u="sng" dirty="0"/>
              <a:t>segment</a:t>
            </a:r>
            <a:r>
              <a:rPr lang="en-IN" sz="1400" b="1" dirty="0"/>
              <a:t> and sort them in descending order of product counts. </a:t>
            </a:r>
            <a:endParaRPr lang="en-IN" sz="1400" dirty="0"/>
          </a:p>
          <a:p>
            <a:r>
              <a:rPr lang="en-IN" sz="1400" b="1" dirty="0"/>
              <a:t>The final output contains 2 fields, </a:t>
            </a:r>
            <a:endParaRPr lang="en-IN" sz="1400" dirty="0"/>
          </a:p>
          <a:p>
            <a:pPr lvl="0"/>
            <a:r>
              <a:rPr lang="en-IN" sz="1400" b="1" dirty="0"/>
              <a:t>segment </a:t>
            </a:r>
            <a:endParaRPr lang="en-IN" sz="1400" dirty="0"/>
          </a:p>
          <a:p>
            <a:r>
              <a:rPr lang="en-IN" sz="1400" b="1" dirty="0" err="1"/>
              <a:t>product_count</a:t>
            </a:r>
            <a:r>
              <a:rPr lang="en-IN" sz="1400" b="1" dirty="0"/>
              <a:t> 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579A3-94A0-9CDA-BC08-63D53974E40A}"/>
              </a:ext>
            </a:extLst>
          </p:cNvPr>
          <p:cNvSpPr txBox="1"/>
          <p:nvPr/>
        </p:nvSpPr>
        <p:spPr>
          <a:xfrm>
            <a:off x="278165" y="2334090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09216-DB99-5D58-F865-2120F147266A}"/>
              </a:ext>
            </a:extLst>
          </p:cNvPr>
          <p:cNvSpPr txBox="1"/>
          <p:nvPr/>
        </p:nvSpPr>
        <p:spPr>
          <a:xfrm>
            <a:off x="1148593" y="3040657"/>
            <a:ext cx="578910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SELECT </a:t>
            </a:r>
            <a:endParaRPr lang="en-IN" sz="1100" dirty="0"/>
          </a:p>
          <a:p>
            <a:r>
              <a:rPr lang="en-IN" sz="1100" dirty="0"/>
              <a:t>segment, </a:t>
            </a:r>
          </a:p>
          <a:p>
            <a:r>
              <a:rPr lang="en-IN" sz="1100" dirty="0"/>
              <a:t>           </a:t>
            </a:r>
            <a:r>
              <a:rPr lang="en-IN" sz="1100" b="1" i="1" dirty="0"/>
              <a:t>count</a:t>
            </a:r>
            <a:r>
              <a:rPr lang="en-IN" sz="1100" dirty="0"/>
              <a:t>(distinct product) </a:t>
            </a:r>
            <a:r>
              <a:rPr lang="en-IN" sz="1100" b="1" dirty="0"/>
              <a:t>as</a:t>
            </a:r>
            <a:r>
              <a:rPr lang="en-IN" sz="1100" dirty="0"/>
              <a:t> </a:t>
            </a:r>
            <a:r>
              <a:rPr lang="en-IN" sz="1100" dirty="0" err="1"/>
              <a:t>unq_product_count</a:t>
            </a:r>
            <a:endParaRPr lang="en-IN" sz="1100" dirty="0"/>
          </a:p>
          <a:p>
            <a:r>
              <a:rPr lang="en-IN" sz="1100" dirty="0"/>
              <a:t>    </a:t>
            </a:r>
            <a:r>
              <a:rPr lang="en-IN" sz="1100" b="1" dirty="0"/>
              <a:t>FROM</a:t>
            </a:r>
            <a:r>
              <a:rPr lang="en-IN" sz="1100" dirty="0"/>
              <a:t> </a:t>
            </a:r>
            <a:r>
              <a:rPr lang="en-IN" sz="1100" dirty="0" err="1"/>
              <a:t>dim_product</a:t>
            </a:r>
            <a:endParaRPr lang="en-IN" sz="1100" dirty="0"/>
          </a:p>
          <a:p>
            <a:r>
              <a:rPr lang="en-IN" sz="1100" dirty="0"/>
              <a:t>    </a:t>
            </a:r>
            <a:r>
              <a:rPr lang="en-IN" sz="1100" b="1" dirty="0"/>
              <a:t>group by</a:t>
            </a:r>
            <a:r>
              <a:rPr lang="en-IN" sz="1100" dirty="0"/>
              <a:t> segment</a:t>
            </a:r>
          </a:p>
          <a:p>
            <a:r>
              <a:rPr lang="en-IN" sz="1100" dirty="0"/>
              <a:t>    </a:t>
            </a:r>
            <a:r>
              <a:rPr lang="en-IN" sz="1100" b="1" dirty="0"/>
              <a:t>order by</a:t>
            </a:r>
            <a:r>
              <a:rPr lang="en-IN" sz="1100" dirty="0"/>
              <a:t> </a:t>
            </a:r>
            <a:r>
              <a:rPr lang="en-IN" sz="1100" dirty="0" err="1"/>
              <a:t>unq_product_count</a:t>
            </a:r>
            <a:r>
              <a:rPr lang="en-IN" sz="1100" dirty="0"/>
              <a:t> </a:t>
            </a:r>
            <a:r>
              <a:rPr lang="en-IN" sz="1100" b="1" dirty="0" err="1"/>
              <a:t>desc</a:t>
            </a:r>
            <a:endParaRPr lang="en-IN" sz="11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FB71C5-B438-3626-D43D-6700F864D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432354"/>
              </p:ext>
            </p:extLst>
          </p:nvPr>
        </p:nvGraphicFramePr>
        <p:xfrm>
          <a:off x="7973269" y="2583324"/>
          <a:ext cx="2235200" cy="128016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4436429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84106265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unq_product_count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4971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Accessories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449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Peripherals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3032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Notebook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3777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Storage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634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Desktop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878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31727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CC71A45-216D-5E2F-6287-45FE673D4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9101743"/>
              </p:ext>
            </p:extLst>
          </p:nvPr>
        </p:nvGraphicFramePr>
        <p:xfrm>
          <a:off x="7291431" y="4152114"/>
          <a:ext cx="3617985" cy="1864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755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420E-7819-E3E2-DECC-ADBFE015E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6524C2-F4C9-B039-FDAE-4E7EFCF3B734}"/>
              </a:ext>
            </a:extLst>
          </p:cNvPr>
          <p:cNvSpPr txBox="1"/>
          <p:nvPr/>
        </p:nvSpPr>
        <p:spPr>
          <a:xfrm>
            <a:off x="1148593" y="898059"/>
            <a:ext cx="95445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4: </a:t>
            </a:r>
            <a:r>
              <a:rPr lang="en-IN" sz="1400" b="1" dirty="0"/>
              <a:t> </a:t>
            </a:r>
            <a:r>
              <a:rPr lang="en-US" sz="1400" dirty="0"/>
              <a:t>Follow-up: Which segment had the most increase in unique products in 2021 vs 2020? The final output contains these fields:</a:t>
            </a:r>
          </a:p>
          <a:p>
            <a:r>
              <a:rPr lang="en-US" sz="1400" dirty="0"/>
              <a:t>segment, product_count_2020, product_count_2021, difference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643E7-E308-4A69-42AD-B39C58B55AD7}"/>
              </a:ext>
            </a:extLst>
          </p:cNvPr>
          <p:cNvSpPr txBox="1"/>
          <p:nvPr/>
        </p:nvSpPr>
        <p:spPr>
          <a:xfrm>
            <a:off x="303332" y="1784692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39F8AA-E777-366E-1171-8E99E98E86BF}"/>
              </a:ext>
            </a:extLst>
          </p:cNvPr>
          <p:cNvSpPr txBox="1"/>
          <p:nvPr/>
        </p:nvSpPr>
        <p:spPr>
          <a:xfrm>
            <a:off x="1148593" y="2394705"/>
            <a:ext cx="5789102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WITH </a:t>
            </a:r>
            <a:r>
              <a:rPr lang="en-IN" sz="1100" dirty="0"/>
              <a:t>CTE1 </a:t>
            </a:r>
            <a:r>
              <a:rPr lang="en-IN" sz="1100" b="1" dirty="0"/>
              <a:t>AS</a:t>
            </a:r>
            <a:br>
              <a:rPr lang="en-IN" sz="1100" dirty="0"/>
            </a:br>
            <a:r>
              <a:rPr lang="en-IN" sz="1100" dirty="0"/>
              <a:t>(</a:t>
            </a:r>
            <a:r>
              <a:rPr lang="en-IN" sz="1100" b="1" dirty="0"/>
              <a:t>select</a:t>
            </a:r>
            <a:r>
              <a:rPr lang="en-IN" sz="1100" dirty="0"/>
              <a:t>         </a:t>
            </a:r>
            <a:r>
              <a:rPr lang="en-IN" sz="1100" dirty="0" err="1"/>
              <a:t>p.segment</a:t>
            </a:r>
            <a:r>
              <a:rPr lang="en-IN" sz="1100" dirty="0"/>
              <a:t> </a:t>
            </a:r>
            <a:r>
              <a:rPr lang="en-IN" sz="1100" b="1" dirty="0"/>
              <a:t>as </a:t>
            </a:r>
            <a:r>
              <a:rPr lang="en-IN" sz="1100" dirty="0" err="1"/>
              <a:t>unq_segment</a:t>
            </a:r>
            <a:r>
              <a:rPr lang="en-IN" sz="1100" dirty="0"/>
              <a:t>,</a:t>
            </a:r>
            <a:br>
              <a:rPr lang="en-IN" sz="1100" dirty="0"/>
            </a:br>
            <a:r>
              <a:rPr lang="en-IN" sz="1100" dirty="0"/>
              <a:t>        count(</a:t>
            </a:r>
            <a:r>
              <a:rPr lang="en-IN" sz="1100" b="1" dirty="0"/>
              <a:t>distinct</a:t>
            </a:r>
            <a:r>
              <a:rPr lang="en-IN" sz="1100" dirty="0"/>
              <a:t>(</a:t>
            </a:r>
            <a:r>
              <a:rPr lang="en-IN" sz="1100" dirty="0" err="1"/>
              <a:t>s.product_code</a:t>
            </a:r>
            <a:r>
              <a:rPr lang="en-IN" sz="1100" dirty="0"/>
              <a:t>)) </a:t>
            </a:r>
            <a:r>
              <a:rPr lang="en-IN" sz="1100" b="1" dirty="0"/>
              <a:t>as </a:t>
            </a:r>
            <a:r>
              <a:rPr lang="en-IN" sz="1100" dirty="0"/>
              <a:t>count_2020</a:t>
            </a:r>
            <a:br>
              <a:rPr lang="en-IN" sz="1100" dirty="0"/>
            </a:br>
            <a:r>
              <a:rPr lang="en-IN" sz="1100" dirty="0"/>
              <a:t>        </a:t>
            </a:r>
            <a:r>
              <a:rPr lang="en-IN" sz="1100" b="1" dirty="0"/>
              <a:t>from </a:t>
            </a:r>
            <a:r>
              <a:rPr lang="en-IN" sz="1100" dirty="0" err="1"/>
              <a:t>fact_sales_monthly</a:t>
            </a:r>
            <a:r>
              <a:rPr lang="en-IN" sz="1100" dirty="0"/>
              <a:t> s</a:t>
            </a:r>
            <a:br>
              <a:rPr lang="en-IN" sz="1100" dirty="0"/>
            </a:br>
            <a:r>
              <a:rPr lang="en-IN" sz="1100" dirty="0"/>
              <a:t>     </a:t>
            </a:r>
            <a:r>
              <a:rPr lang="en-IN" sz="1100" b="1" dirty="0"/>
              <a:t>join </a:t>
            </a:r>
            <a:r>
              <a:rPr lang="en-IN" sz="1100" dirty="0" err="1"/>
              <a:t>dim_product</a:t>
            </a:r>
            <a:r>
              <a:rPr lang="en-IN" sz="1100" dirty="0"/>
              <a:t> p</a:t>
            </a:r>
            <a:br>
              <a:rPr lang="en-IN" sz="1100" dirty="0"/>
            </a:br>
            <a:r>
              <a:rPr lang="en-IN" sz="1100" dirty="0"/>
              <a:t>     </a:t>
            </a:r>
            <a:r>
              <a:rPr lang="en-IN" sz="1100" b="1" dirty="0"/>
              <a:t>on </a:t>
            </a:r>
            <a:r>
              <a:rPr lang="en-IN" sz="1100" dirty="0" err="1"/>
              <a:t>p.product_code</a:t>
            </a:r>
            <a:r>
              <a:rPr lang="en-IN" sz="1100" dirty="0"/>
              <a:t> = </a:t>
            </a:r>
            <a:r>
              <a:rPr lang="en-IN" sz="1100" dirty="0" err="1"/>
              <a:t>s.product_code</a:t>
            </a:r>
            <a:br>
              <a:rPr lang="en-IN" sz="1100" dirty="0"/>
            </a:br>
            <a:r>
              <a:rPr lang="en-IN" sz="1100" dirty="0"/>
              <a:t>        </a:t>
            </a:r>
            <a:r>
              <a:rPr lang="en-IN" sz="1100" b="1" dirty="0"/>
              <a:t>where </a:t>
            </a:r>
            <a:r>
              <a:rPr lang="en-IN" sz="1100" dirty="0" err="1"/>
              <a:t>s.fiscal_year</a:t>
            </a:r>
            <a:r>
              <a:rPr lang="en-IN" sz="1100" dirty="0"/>
              <a:t>=  2020</a:t>
            </a:r>
            <a:br>
              <a:rPr lang="en-IN" sz="1100" dirty="0"/>
            </a:br>
            <a:r>
              <a:rPr lang="en-IN" sz="1100" dirty="0"/>
              <a:t>               </a:t>
            </a:r>
            <a:r>
              <a:rPr lang="en-IN" sz="1100" b="1" dirty="0"/>
              <a:t>group by </a:t>
            </a:r>
            <a:r>
              <a:rPr lang="en-IN" sz="1100" dirty="0" err="1"/>
              <a:t>p.segment</a:t>
            </a:r>
            <a:r>
              <a:rPr lang="en-IN" sz="1100" dirty="0"/>
              <a:t>),</a:t>
            </a:r>
            <a:br>
              <a:rPr lang="en-IN" sz="1100" dirty="0"/>
            </a:br>
            <a:r>
              <a:rPr lang="en-IN" sz="1100" dirty="0"/>
              <a:t>CTE2 </a:t>
            </a:r>
            <a:r>
              <a:rPr lang="en-IN" sz="1100" b="1" dirty="0"/>
              <a:t>AS</a:t>
            </a:r>
            <a:br>
              <a:rPr lang="en-IN" sz="1100" dirty="0"/>
            </a:br>
            <a:r>
              <a:rPr lang="en-IN" sz="1100" dirty="0"/>
              <a:t>(</a:t>
            </a:r>
            <a:r>
              <a:rPr lang="en-IN" sz="1100" b="1" dirty="0"/>
              <a:t>select</a:t>
            </a:r>
            <a:r>
              <a:rPr lang="en-IN" sz="1100" dirty="0"/>
              <a:t>         </a:t>
            </a:r>
            <a:r>
              <a:rPr lang="en-IN" sz="1100" dirty="0" err="1"/>
              <a:t>p.segment</a:t>
            </a:r>
            <a:r>
              <a:rPr lang="en-IN" sz="1100" dirty="0"/>
              <a:t> </a:t>
            </a:r>
            <a:r>
              <a:rPr lang="en-IN" sz="1100" b="1" dirty="0"/>
              <a:t>as </a:t>
            </a:r>
            <a:r>
              <a:rPr lang="en-IN" sz="1100" dirty="0" err="1"/>
              <a:t>unq_segment</a:t>
            </a:r>
            <a:r>
              <a:rPr lang="en-IN" sz="1100" dirty="0"/>
              <a:t>,</a:t>
            </a:r>
            <a:br>
              <a:rPr lang="en-IN" sz="1100" dirty="0"/>
            </a:br>
            <a:r>
              <a:rPr lang="en-IN" sz="1100" dirty="0"/>
              <a:t>        count(</a:t>
            </a:r>
            <a:r>
              <a:rPr lang="en-IN" sz="1100" b="1" dirty="0"/>
              <a:t>distinct</a:t>
            </a:r>
            <a:r>
              <a:rPr lang="en-IN" sz="1100" dirty="0"/>
              <a:t>(</a:t>
            </a:r>
            <a:r>
              <a:rPr lang="en-IN" sz="1100" dirty="0" err="1"/>
              <a:t>s.product_code</a:t>
            </a:r>
            <a:r>
              <a:rPr lang="en-IN" sz="1100" dirty="0"/>
              <a:t>)) </a:t>
            </a:r>
            <a:r>
              <a:rPr lang="en-IN" sz="1100" b="1" dirty="0"/>
              <a:t>as </a:t>
            </a:r>
            <a:r>
              <a:rPr lang="en-IN" sz="1100" dirty="0"/>
              <a:t>count_2021</a:t>
            </a:r>
            <a:br>
              <a:rPr lang="en-IN" sz="1100" dirty="0"/>
            </a:br>
            <a:r>
              <a:rPr lang="en-IN" sz="1100" dirty="0"/>
              <a:t>        </a:t>
            </a:r>
            <a:r>
              <a:rPr lang="en-IN" sz="1100" b="1" dirty="0"/>
              <a:t>from </a:t>
            </a:r>
            <a:r>
              <a:rPr lang="en-IN" sz="1100" dirty="0" err="1"/>
              <a:t>fact_sales_monthly</a:t>
            </a:r>
            <a:r>
              <a:rPr lang="en-IN" sz="1100" dirty="0"/>
              <a:t> s</a:t>
            </a:r>
            <a:br>
              <a:rPr lang="en-IN" sz="1100" dirty="0"/>
            </a:br>
            <a:r>
              <a:rPr lang="en-IN" sz="1100" dirty="0"/>
              <a:t>     </a:t>
            </a:r>
            <a:r>
              <a:rPr lang="en-IN" sz="1100" b="1" dirty="0"/>
              <a:t>join </a:t>
            </a:r>
            <a:r>
              <a:rPr lang="en-IN" sz="1100" dirty="0" err="1"/>
              <a:t>dim_product</a:t>
            </a:r>
            <a:r>
              <a:rPr lang="en-IN" sz="1100" dirty="0"/>
              <a:t> p</a:t>
            </a:r>
            <a:br>
              <a:rPr lang="en-IN" sz="1100" dirty="0"/>
            </a:br>
            <a:r>
              <a:rPr lang="en-IN" sz="1100" dirty="0"/>
              <a:t>     </a:t>
            </a:r>
            <a:r>
              <a:rPr lang="en-IN" sz="1100" b="1" dirty="0"/>
              <a:t>on </a:t>
            </a:r>
            <a:r>
              <a:rPr lang="en-IN" sz="1100" dirty="0" err="1"/>
              <a:t>p.product_code</a:t>
            </a:r>
            <a:r>
              <a:rPr lang="en-IN" sz="1100" dirty="0"/>
              <a:t> = </a:t>
            </a:r>
            <a:r>
              <a:rPr lang="en-IN" sz="1100" dirty="0" err="1"/>
              <a:t>s.product_code</a:t>
            </a:r>
            <a:br>
              <a:rPr lang="en-IN" sz="1100" dirty="0"/>
            </a:br>
            <a:r>
              <a:rPr lang="en-IN" sz="1100" dirty="0"/>
              <a:t>        </a:t>
            </a:r>
            <a:r>
              <a:rPr lang="en-IN" sz="1100" b="1" dirty="0"/>
              <a:t>where </a:t>
            </a:r>
            <a:r>
              <a:rPr lang="en-IN" sz="1100" dirty="0" err="1"/>
              <a:t>s.fiscal_year</a:t>
            </a:r>
            <a:r>
              <a:rPr lang="en-IN" sz="1100" dirty="0"/>
              <a:t>=  2021</a:t>
            </a:r>
            <a:br>
              <a:rPr lang="en-IN" sz="1100" dirty="0"/>
            </a:br>
            <a:r>
              <a:rPr lang="en-IN" sz="1100" dirty="0"/>
              <a:t>              </a:t>
            </a:r>
            <a:r>
              <a:rPr lang="en-IN" sz="1100" b="1" dirty="0"/>
              <a:t>group by </a:t>
            </a:r>
            <a:r>
              <a:rPr lang="en-IN" sz="1100" dirty="0" err="1"/>
              <a:t>p.segment</a:t>
            </a:r>
            <a:r>
              <a:rPr lang="en-IN" sz="1100" dirty="0"/>
              <a:t>) </a:t>
            </a:r>
            <a:br>
              <a:rPr lang="en-IN" sz="1100" dirty="0"/>
            </a:br>
            <a:r>
              <a:rPr lang="en-IN" sz="1100" dirty="0"/>
              <a:t>    </a:t>
            </a:r>
            <a:br>
              <a:rPr lang="en-IN" sz="1100" dirty="0"/>
            </a:br>
            <a:r>
              <a:rPr lang="en-IN" sz="1100" b="1" dirty="0"/>
              <a:t>SELECT </a:t>
            </a:r>
            <a:br>
              <a:rPr lang="en-IN" sz="1100" dirty="0"/>
            </a:br>
            <a:r>
              <a:rPr lang="en-IN" sz="1100" dirty="0"/>
              <a:t>        </a:t>
            </a:r>
            <a:r>
              <a:rPr lang="en-IN" sz="1100" dirty="0" err="1"/>
              <a:t>A.unq_segment</a:t>
            </a:r>
            <a:r>
              <a:rPr lang="en-IN" sz="1100" dirty="0"/>
              <a:t>, A.count_2020, B.count_2021,</a:t>
            </a:r>
            <a:br>
              <a:rPr lang="en-IN" sz="1100" dirty="0"/>
            </a:br>
            <a:r>
              <a:rPr lang="en-IN" sz="1100" dirty="0"/>
              <a:t>             (B.count_2021-A.count_2020) </a:t>
            </a:r>
            <a:r>
              <a:rPr lang="en-IN" sz="1100" b="1" dirty="0"/>
              <a:t>AS </a:t>
            </a:r>
            <a:r>
              <a:rPr lang="en-IN" sz="1100" dirty="0" err="1"/>
              <a:t>differece</a:t>
            </a:r>
            <a:br>
              <a:rPr lang="en-IN" sz="1100" dirty="0"/>
            </a:br>
            <a:r>
              <a:rPr lang="en-IN" sz="1100" dirty="0"/>
              <a:t>             </a:t>
            </a:r>
            <a:r>
              <a:rPr lang="en-IN" sz="1100" b="1" dirty="0"/>
              <a:t>FROM </a:t>
            </a:r>
            <a:r>
              <a:rPr lang="en-IN" sz="1100" dirty="0"/>
              <a:t>CTE1 A</a:t>
            </a:r>
            <a:br>
              <a:rPr lang="en-IN" sz="1100" dirty="0"/>
            </a:br>
            <a:r>
              <a:rPr lang="en-IN" sz="1100" dirty="0"/>
              <a:t>                   </a:t>
            </a:r>
            <a:r>
              <a:rPr lang="en-IN" sz="1100" b="1" dirty="0"/>
              <a:t>JOIN </a:t>
            </a:r>
            <a:r>
              <a:rPr lang="en-IN" sz="1100" dirty="0"/>
              <a:t>CTE2 B</a:t>
            </a:r>
            <a:br>
              <a:rPr lang="en-IN" sz="1100" dirty="0"/>
            </a:br>
            <a:r>
              <a:rPr lang="en-IN" sz="1100" dirty="0"/>
              <a:t>                   </a:t>
            </a:r>
            <a:r>
              <a:rPr lang="en-IN" sz="1100" b="1" dirty="0"/>
              <a:t>ON </a:t>
            </a:r>
            <a:r>
              <a:rPr lang="en-IN" sz="1100" dirty="0" err="1"/>
              <a:t>A.unq_segment</a:t>
            </a:r>
            <a:r>
              <a:rPr lang="en-IN" sz="1100" dirty="0"/>
              <a:t> = </a:t>
            </a:r>
            <a:r>
              <a:rPr lang="en-IN" sz="1100" dirty="0" err="1"/>
              <a:t>B.unq_segment</a:t>
            </a:r>
            <a:endParaRPr lang="en-IN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69CD0A-7D29-198F-445C-D294838C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781" y="3087825"/>
            <a:ext cx="5501230" cy="19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7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23E3-3842-C760-3410-9D3BC8B3F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425C27-B689-26AA-2972-D12258541EE0}"/>
              </a:ext>
            </a:extLst>
          </p:cNvPr>
          <p:cNvSpPr txBox="1"/>
          <p:nvPr/>
        </p:nvSpPr>
        <p:spPr>
          <a:xfrm>
            <a:off x="1148593" y="898059"/>
            <a:ext cx="95445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highlight>
                  <a:srgbClr val="808080"/>
                </a:highlight>
              </a:rPr>
              <a:t>Request 5 </a:t>
            </a:r>
            <a:r>
              <a:rPr lang="en-IN" sz="1400" b="1" dirty="0"/>
              <a:t> Get the products that have the </a:t>
            </a:r>
            <a:r>
              <a:rPr lang="en-IN" sz="1400" b="1" u="sng" dirty="0"/>
              <a:t>highest and lowest</a:t>
            </a:r>
            <a:r>
              <a:rPr lang="en-IN" sz="1400" b="1" dirty="0"/>
              <a:t> manufacturing costs. The final output should contain these fields, </a:t>
            </a:r>
            <a:endParaRPr lang="en-IN" sz="1400" dirty="0"/>
          </a:p>
          <a:p>
            <a:r>
              <a:rPr lang="en-IN" sz="1400" b="1" dirty="0" err="1"/>
              <a:t>product_code</a:t>
            </a:r>
            <a:r>
              <a:rPr lang="en-IN" sz="1400" b="1" dirty="0"/>
              <a:t> </a:t>
            </a:r>
            <a:endParaRPr lang="en-IN" sz="1400" dirty="0"/>
          </a:p>
          <a:p>
            <a:r>
              <a:rPr lang="en-IN" sz="1400" b="1" dirty="0"/>
              <a:t>product </a:t>
            </a:r>
            <a:r>
              <a:rPr lang="en-IN" sz="1400" b="1" dirty="0" err="1"/>
              <a:t>manufacturing_cost</a:t>
            </a:r>
            <a:r>
              <a:rPr lang="en-IN" sz="1400" b="1" dirty="0"/>
              <a:t> 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6F03A-81A2-0F32-0A17-42388BECE9AA}"/>
              </a:ext>
            </a:extLst>
          </p:cNvPr>
          <p:cNvSpPr txBox="1"/>
          <p:nvPr/>
        </p:nvSpPr>
        <p:spPr>
          <a:xfrm>
            <a:off x="303332" y="1784692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C2EA5B-A8AA-D8A4-2905-E9B5424A9E05}"/>
              </a:ext>
            </a:extLst>
          </p:cNvPr>
          <p:cNvSpPr txBox="1"/>
          <p:nvPr/>
        </p:nvSpPr>
        <p:spPr>
          <a:xfrm>
            <a:off x="1148593" y="2543297"/>
            <a:ext cx="57891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SELECT </a:t>
            </a:r>
            <a:br>
              <a:rPr lang="en-IN" sz="1200" dirty="0"/>
            </a:br>
            <a:r>
              <a:rPr lang="en-IN" sz="1200" dirty="0"/>
              <a:t>        </a:t>
            </a:r>
            <a:r>
              <a:rPr lang="en-IN" sz="1200" dirty="0" err="1"/>
              <a:t>p.product_code</a:t>
            </a:r>
            <a:r>
              <a:rPr lang="en-IN" sz="1200" dirty="0"/>
              <a:t>, </a:t>
            </a:r>
            <a:r>
              <a:rPr lang="en-IN" sz="1200" dirty="0" err="1"/>
              <a:t>p.product</a:t>
            </a:r>
            <a:r>
              <a:rPr lang="en-IN" sz="1200" dirty="0"/>
              <a:t>,  </a:t>
            </a:r>
            <a:r>
              <a:rPr lang="en-IN" sz="1200" dirty="0" err="1"/>
              <a:t>m.manufacturing_cost</a:t>
            </a:r>
            <a:endParaRPr lang="en-IN" sz="1200" dirty="0"/>
          </a:p>
          <a:p>
            <a:r>
              <a:rPr lang="en-IN" sz="1200" dirty="0"/>
              <a:t>               </a:t>
            </a:r>
            <a:r>
              <a:rPr lang="en-IN" sz="1200" b="1" dirty="0"/>
              <a:t>from </a:t>
            </a:r>
            <a:r>
              <a:rPr lang="en-IN" sz="1200" dirty="0" err="1"/>
              <a:t>dim_product</a:t>
            </a:r>
            <a:r>
              <a:rPr lang="en-IN" sz="1200" dirty="0"/>
              <a:t> p</a:t>
            </a:r>
            <a:br>
              <a:rPr lang="en-IN" sz="1200" dirty="0"/>
            </a:br>
            <a:r>
              <a:rPr lang="en-IN" sz="1200" dirty="0"/>
              <a:t>    </a:t>
            </a:r>
            <a:r>
              <a:rPr lang="en-IN" sz="1200" b="1" dirty="0"/>
              <a:t>join </a:t>
            </a:r>
            <a:r>
              <a:rPr lang="en-IN" sz="1200" dirty="0" err="1"/>
              <a:t>fact_manufacturing_cost</a:t>
            </a:r>
            <a:r>
              <a:rPr lang="en-IN" sz="1200" dirty="0"/>
              <a:t> m</a:t>
            </a:r>
            <a:br>
              <a:rPr lang="en-IN" sz="1200" dirty="0"/>
            </a:br>
            <a:r>
              <a:rPr lang="en-IN" sz="1200" dirty="0"/>
              <a:t>    </a:t>
            </a:r>
            <a:r>
              <a:rPr lang="en-IN" sz="1200" b="1" dirty="0"/>
              <a:t>on </a:t>
            </a:r>
            <a:r>
              <a:rPr lang="en-IN" sz="1200" dirty="0" err="1"/>
              <a:t>p.product_code</a:t>
            </a:r>
            <a:r>
              <a:rPr lang="en-IN" sz="1200" dirty="0"/>
              <a:t> = </a:t>
            </a:r>
            <a:r>
              <a:rPr lang="en-IN" sz="1200" dirty="0" err="1"/>
              <a:t>m.product_code</a:t>
            </a:r>
            <a:br>
              <a:rPr lang="en-IN" sz="1200" dirty="0"/>
            </a:br>
            <a:r>
              <a:rPr lang="en-IN" sz="1200" dirty="0"/>
              <a:t>        </a:t>
            </a:r>
            <a:r>
              <a:rPr lang="en-IN" sz="1200" b="1" dirty="0"/>
              <a:t>where </a:t>
            </a:r>
            <a:r>
              <a:rPr lang="en-IN" sz="1200" dirty="0" err="1"/>
              <a:t>manufacturing_cost</a:t>
            </a:r>
            <a:r>
              <a:rPr lang="en-IN" sz="1200" dirty="0"/>
              <a:t> </a:t>
            </a:r>
            <a:r>
              <a:rPr lang="en-IN" sz="1200" b="1" dirty="0"/>
              <a:t>in </a:t>
            </a:r>
            <a:r>
              <a:rPr lang="en-IN" sz="1200" dirty="0"/>
              <a:t>(</a:t>
            </a:r>
            <a:br>
              <a:rPr lang="en-IN" sz="1200" dirty="0"/>
            </a:br>
            <a:r>
              <a:rPr lang="en-IN" sz="1200" b="1" dirty="0"/>
              <a:t>SELECT </a:t>
            </a:r>
            <a:r>
              <a:rPr lang="en-IN" sz="1200" dirty="0"/>
              <a:t>max(</a:t>
            </a:r>
            <a:r>
              <a:rPr lang="en-IN" sz="1200" dirty="0" err="1"/>
              <a:t>manufacturing_cost</a:t>
            </a:r>
            <a:r>
              <a:rPr lang="en-IN" sz="1200" dirty="0"/>
              <a:t>) </a:t>
            </a:r>
            <a:r>
              <a:rPr lang="en-IN" sz="1200" b="1" dirty="0"/>
              <a:t>from </a:t>
            </a:r>
            <a:r>
              <a:rPr lang="en-IN" sz="1200" dirty="0" err="1"/>
              <a:t>fact_manufacturing_cost</a:t>
            </a:r>
            <a:br>
              <a:rPr lang="en-IN" sz="1200" dirty="0"/>
            </a:br>
            <a:r>
              <a:rPr lang="en-IN" sz="1200" dirty="0"/>
              <a:t>            </a:t>
            </a:r>
            <a:r>
              <a:rPr lang="en-IN" sz="1200" b="1" dirty="0"/>
              <a:t>union</a:t>
            </a:r>
            <a:br>
              <a:rPr lang="en-IN" sz="1200" dirty="0"/>
            </a:br>
            <a:r>
              <a:rPr lang="en-IN" sz="1200" b="1" dirty="0"/>
              <a:t>SELECT </a:t>
            </a:r>
            <a:r>
              <a:rPr lang="en-IN" sz="1200" dirty="0"/>
              <a:t>min(</a:t>
            </a:r>
            <a:r>
              <a:rPr lang="en-IN" sz="1200" dirty="0" err="1"/>
              <a:t>manufacturing_cost</a:t>
            </a:r>
            <a:r>
              <a:rPr lang="en-IN" sz="1200" dirty="0"/>
              <a:t>) </a:t>
            </a:r>
            <a:r>
              <a:rPr lang="en-IN" sz="1200" b="1" dirty="0"/>
              <a:t>from </a:t>
            </a:r>
            <a:r>
              <a:rPr lang="en-IN" sz="1200" dirty="0" err="1"/>
              <a:t>fact_manufacturing_cost</a:t>
            </a:r>
            <a:br>
              <a:rPr lang="en-IN" sz="1200" dirty="0"/>
            </a:br>
            <a:r>
              <a:rPr lang="en-IN" sz="1200" dirty="0"/>
              <a:t>            )</a:t>
            </a:r>
            <a:br>
              <a:rPr lang="en-IN" sz="1200" dirty="0"/>
            </a:br>
            <a:r>
              <a:rPr lang="en-IN" sz="1200" dirty="0"/>
              <a:t>        </a:t>
            </a:r>
            <a:r>
              <a:rPr lang="en-IN" sz="1200" b="1" dirty="0"/>
              <a:t>order by </a:t>
            </a:r>
            <a:r>
              <a:rPr lang="en-IN" sz="1200" dirty="0" err="1"/>
              <a:t>manufacturing_cost</a:t>
            </a:r>
            <a:r>
              <a:rPr lang="en-IN" sz="1200" dirty="0"/>
              <a:t>  </a:t>
            </a:r>
            <a:r>
              <a:rPr lang="en-IN" sz="1200" b="1" dirty="0" err="1"/>
              <a:t>desc</a:t>
            </a:r>
            <a:r>
              <a:rPr lang="en-IN" sz="1200" dirty="0"/>
              <a:t>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1B9738-B38A-2598-F926-1CAB52F99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958" y="2543297"/>
            <a:ext cx="6149131" cy="103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4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FF224635-9C76-8D2E-5E63-11B72AAE4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61" y="1591371"/>
            <a:ext cx="2299448" cy="229944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F03D7B-DC60-59A5-9E2E-43EB5B1D85D4}"/>
              </a:ext>
            </a:extLst>
          </p:cNvPr>
          <p:cNvSpPr txBox="1"/>
          <p:nvPr/>
        </p:nvSpPr>
        <p:spPr>
          <a:xfrm>
            <a:off x="3906982" y="356523"/>
            <a:ext cx="3565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Insights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63F37-782A-6EEA-AAC1-B763470B72B5}"/>
              </a:ext>
            </a:extLst>
          </p:cNvPr>
          <p:cNvSpPr txBox="1"/>
          <p:nvPr/>
        </p:nvSpPr>
        <p:spPr>
          <a:xfrm>
            <a:off x="261504" y="1222039"/>
            <a:ext cx="494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Highest manufacturing cost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5211D2-7BFE-BD46-763E-83FDCD267F3D}"/>
              </a:ext>
            </a:extLst>
          </p:cNvPr>
          <p:cNvSpPr txBox="1"/>
          <p:nvPr/>
        </p:nvSpPr>
        <p:spPr>
          <a:xfrm>
            <a:off x="6381921" y="1319470"/>
            <a:ext cx="442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Lowest manufacturing cost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524E4-7481-53B6-45D0-7413396A5224}"/>
              </a:ext>
            </a:extLst>
          </p:cNvPr>
          <p:cNvSpPr txBox="1"/>
          <p:nvPr/>
        </p:nvSpPr>
        <p:spPr>
          <a:xfrm>
            <a:off x="775855" y="3863490"/>
            <a:ext cx="4073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AQ HOME Allin1 Gen 2 (Plus 3)</a:t>
            </a:r>
          </a:p>
          <a:p>
            <a:pPr algn="ctr"/>
            <a:r>
              <a:rPr lang="en-US"/>
              <a:t>Category: Personal Desktop</a:t>
            </a: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1B1E8422-F612-0530-1A01-651F6DC67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09" y="1949009"/>
            <a:ext cx="1782481" cy="17824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9D62FF4-11F6-A364-E233-2951B23C0115}"/>
              </a:ext>
            </a:extLst>
          </p:cNvPr>
          <p:cNvSpPr txBox="1"/>
          <p:nvPr/>
        </p:nvSpPr>
        <p:spPr>
          <a:xfrm>
            <a:off x="6622473" y="3863490"/>
            <a:ext cx="4073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/>
              <a:t>AQ Master wired x1 Ms (Standard 1)</a:t>
            </a:r>
          </a:p>
          <a:p>
            <a:r>
              <a:rPr lang="en-US"/>
              <a:t>Category: Mouse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3447AF-D453-BE04-A97E-6B7A65213098}"/>
              </a:ext>
            </a:extLst>
          </p:cNvPr>
          <p:cNvSpPr txBox="1"/>
          <p:nvPr/>
        </p:nvSpPr>
        <p:spPr>
          <a:xfrm>
            <a:off x="1260764" y="4564160"/>
            <a:ext cx="310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$240.54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19BD14-D5ED-0D81-4675-B51B662DFC2E}"/>
              </a:ext>
            </a:extLst>
          </p:cNvPr>
          <p:cNvSpPr txBox="1"/>
          <p:nvPr/>
        </p:nvSpPr>
        <p:spPr>
          <a:xfrm>
            <a:off x="7107382" y="4564160"/>
            <a:ext cx="310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IN"/>
              <a:t>$0.89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094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8" grpId="0"/>
      <p:bldP spid="21" grpId="0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40D8E-3C2D-4C1F-A15B-D305D1D0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B90F7F-8770-8E1C-C5B2-043CAC1AFC4F}"/>
              </a:ext>
            </a:extLst>
          </p:cNvPr>
          <p:cNvSpPr txBox="1"/>
          <p:nvPr/>
        </p:nvSpPr>
        <p:spPr>
          <a:xfrm>
            <a:off x="1148593" y="898059"/>
            <a:ext cx="95445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6 </a:t>
            </a:r>
            <a:r>
              <a:rPr lang="en-IN" sz="1400" b="1" dirty="0"/>
              <a:t> Generate a report which contains the top 5 customers who received an average high </a:t>
            </a:r>
            <a:r>
              <a:rPr lang="en-IN" sz="1400" b="1" dirty="0" err="1"/>
              <a:t>pre_invoice_discount_pct</a:t>
            </a:r>
            <a:r>
              <a:rPr lang="en-IN" sz="1400" b="1" dirty="0"/>
              <a:t> for the fiscal year 2021 and in the Indian market. The final output contains these fields, </a:t>
            </a:r>
            <a:endParaRPr lang="en-IN" sz="1400" dirty="0"/>
          </a:p>
          <a:p>
            <a:r>
              <a:rPr lang="en-IN" sz="1400" b="1" dirty="0" err="1"/>
              <a:t>customer_code</a:t>
            </a:r>
            <a:r>
              <a:rPr lang="en-IN" sz="1400" b="1" dirty="0"/>
              <a:t> </a:t>
            </a:r>
            <a:endParaRPr lang="en-IN" sz="1400" dirty="0"/>
          </a:p>
          <a:p>
            <a:r>
              <a:rPr lang="en-IN" sz="1400" b="1" dirty="0"/>
              <a:t>customer </a:t>
            </a:r>
            <a:endParaRPr lang="en-IN" sz="1400" dirty="0"/>
          </a:p>
          <a:p>
            <a:r>
              <a:rPr lang="en-IN" sz="1400" b="1" dirty="0" err="1"/>
              <a:t>average_discount_percentage</a:t>
            </a:r>
            <a:r>
              <a:rPr lang="en-IN" sz="1400" b="1" dirty="0"/>
              <a:t> 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6EA2B-E960-DC9D-76DC-78D92088E6DF}"/>
              </a:ext>
            </a:extLst>
          </p:cNvPr>
          <p:cNvSpPr txBox="1"/>
          <p:nvPr/>
        </p:nvSpPr>
        <p:spPr>
          <a:xfrm>
            <a:off x="294943" y="2173965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C431E-CF35-3538-A25D-82F03A991996}"/>
              </a:ext>
            </a:extLst>
          </p:cNvPr>
          <p:cNvSpPr txBox="1"/>
          <p:nvPr/>
        </p:nvSpPr>
        <p:spPr>
          <a:xfrm>
            <a:off x="1148593" y="3018984"/>
            <a:ext cx="578910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select </a:t>
            </a:r>
            <a:endParaRPr lang="en-IN" sz="1100" dirty="0"/>
          </a:p>
          <a:p>
            <a:r>
              <a:rPr lang="en-IN" sz="1100" dirty="0" err="1"/>
              <a:t>c.customer_code</a:t>
            </a:r>
            <a:r>
              <a:rPr lang="en-IN" sz="1100" dirty="0"/>
              <a:t>, </a:t>
            </a:r>
            <a:r>
              <a:rPr lang="en-IN" sz="1100" dirty="0" err="1"/>
              <a:t>c.customer</a:t>
            </a:r>
            <a:r>
              <a:rPr lang="en-IN" sz="1100" dirty="0"/>
              <a:t>,</a:t>
            </a:r>
          </a:p>
          <a:p>
            <a:r>
              <a:rPr lang="en-IN" sz="1100" b="1" i="1" dirty="0"/>
              <a:t>round</a:t>
            </a:r>
            <a:r>
              <a:rPr lang="en-IN" sz="1100" dirty="0"/>
              <a:t>(</a:t>
            </a:r>
            <a:r>
              <a:rPr lang="en-IN" sz="1100" dirty="0" err="1"/>
              <a:t>avg</a:t>
            </a:r>
            <a:r>
              <a:rPr lang="en-IN" sz="1100" dirty="0"/>
              <a:t>(</a:t>
            </a:r>
            <a:r>
              <a:rPr lang="en-IN" sz="1100" dirty="0" err="1"/>
              <a:t>pid.pre_invoice_discount_pct</a:t>
            </a:r>
            <a:r>
              <a:rPr lang="en-IN" sz="1100" dirty="0"/>
              <a:t>),2) </a:t>
            </a:r>
            <a:r>
              <a:rPr lang="en-IN" sz="1100" b="1" dirty="0"/>
              <a:t>as</a:t>
            </a:r>
            <a:r>
              <a:rPr lang="en-IN" sz="1100" dirty="0"/>
              <a:t> </a:t>
            </a:r>
            <a:r>
              <a:rPr lang="en-IN" sz="1100" dirty="0" err="1"/>
              <a:t>avg_pid</a:t>
            </a:r>
            <a:endParaRPr lang="en-IN" sz="1100" dirty="0"/>
          </a:p>
          <a:p>
            <a:r>
              <a:rPr lang="en-IN" sz="1100" b="1" dirty="0"/>
              <a:t>from</a:t>
            </a:r>
            <a:r>
              <a:rPr lang="en-IN" sz="1100" dirty="0"/>
              <a:t> </a:t>
            </a:r>
            <a:r>
              <a:rPr lang="en-IN" sz="1100" dirty="0" err="1"/>
              <a:t>dim_customer</a:t>
            </a:r>
            <a:r>
              <a:rPr lang="en-IN" sz="1100" dirty="0"/>
              <a:t> c</a:t>
            </a:r>
          </a:p>
          <a:p>
            <a:r>
              <a:rPr lang="en-IN" sz="1100" dirty="0"/>
              <a:t>    </a:t>
            </a:r>
            <a:r>
              <a:rPr lang="en-IN" sz="1100" b="1" dirty="0"/>
              <a:t>join</a:t>
            </a:r>
            <a:r>
              <a:rPr lang="en-IN" sz="1100" dirty="0"/>
              <a:t> </a:t>
            </a:r>
            <a:r>
              <a:rPr lang="en-IN" sz="1100" dirty="0" err="1"/>
              <a:t>fact_pre_invoice_deductions</a:t>
            </a:r>
            <a:r>
              <a:rPr lang="en-IN" sz="1100" dirty="0"/>
              <a:t> </a:t>
            </a:r>
            <a:r>
              <a:rPr lang="en-IN" sz="1100" dirty="0" err="1"/>
              <a:t>pid</a:t>
            </a:r>
            <a:endParaRPr lang="en-IN" sz="1100" dirty="0"/>
          </a:p>
          <a:p>
            <a:r>
              <a:rPr lang="en-IN" sz="1100" dirty="0"/>
              <a:t>    </a:t>
            </a:r>
            <a:r>
              <a:rPr lang="en-IN" sz="1100" b="1" dirty="0"/>
              <a:t>on</a:t>
            </a:r>
            <a:r>
              <a:rPr lang="en-IN" sz="1100" dirty="0"/>
              <a:t> </a:t>
            </a:r>
            <a:r>
              <a:rPr lang="en-IN" sz="1100" dirty="0" err="1"/>
              <a:t>c.customer_code</a:t>
            </a:r>
            <a:r>
              <a:rPr lang="en-IN" sz="1100" dirty="0"/>
              <a:t> = </a:t>
            </a:r>
            <a:r>
              <a:rPr lang="en-IN" sz="1100" dirty="0" err="1"/>
              <a:t>pid.customer_code</a:t>
            </a:r>
            <a:endParaRPr lang="en-IN" sz="1100" dirty="0"/>
          </a:p>
          <a:p>
            <a:r>
              <a:rPr lang="en-IN" sz="1100" b="1" dirty="0"/>
              <a:t>where</a:t>
            </a:r>
            <a:r>
              <a:rPr lang="en-IN" sz="1100" dirty="0"/>
              <a:t> </a:t>
            </a:r>
            <a:r>
              <a:rPr lang="en-IN" sz="1100" dirty="0" err="1"/>
              <a:t>fiscal_year</a:t>
            </a:r>
            <a:r>
              <a:rPr lang="en-IN" sz="1100" dirty="0"/>
              <a:t> = 2021 </a:t>
            </a:r>
            <a:r>
              <a:rPr lang="en-IN" sz="1100" b="1" dirty="0"/>
              <a:t>and</a:t>
            </a:r>
            <a:r>
              <a:rPr lang="en-IN" sz="1100" dirty="0"/>
              <a:t> market = "India"</a:t>
            </a:r>
          </a:p>
          <a:p>
            <a:r>
              <a:rPr lang="en-IN" sz="1100" b="1" dirty="0"/>
              <a:t>group by</a:t>
            </a:r>
            <a:r>
              <a:rPr lang="en-IN" sz="1100" dirty="0"/>
              <a:t> </a:t>
            </a:r>
            <a:r>
              <a:rPr lang="en-IN" sz="1100" dirty="0" err="1"/>
              <a:t>c.customer_code</a:t>
            </a:r>
            <a:r>
              <a:rPr lang="en-IN" sz="1100" dirty="0"/>
              <a:t>, </a:t>
            </a:r>
            <a:r>
              <a:rPr lang="en-IN" sz="1100" dirty="0" err="1"/>
              <a:t>c.customer</a:t>
            </a:r>
            <a:endParaRPr lang="en-IN" sz="1100" dirty="0"/>
          </a:p>
          <a:p>
            <a:r>
              <a:rPr lang="en-IN" sz="1100" b="1" dirty="0"/>
              <a:t>order by</a:t>
            </a:r>
            <a:r>
              <a:rPr lang="en-IN" sz="1100" dirty="0"/>
              <a:t> </a:t>
            </a:r>
            <a:r>
              <a:rPr lang="en-IN" sz="1100" dirty="0" err="1"/>
              <a:t>avg_pid</a:t>
            </a:r>
            <a:r>
              <a:rPr lang="en-IN" sz="1100" dirty="0"/>
              <a:t> </a:t>
            </a:r>
            <a:r>
              <a:rPr lang="en-IN" sz="1100" dirty="0" err="1"/>
              <a:t>desc</a:t>
            </a:r>
            <a:endParaRPr lang="en-IN" sz="1100" dirty="0"/>
          </a:p>
          <a:p>
            <a:r>
              <a:rPr lang="en-IN" sz="1100" b="1" dirty="0"/>
              <a:t>limit</a:t>
            </a:r>
            <a:r>
              <a:rPr lang="en-IN" sz="1100" dirty="0"/>
              <a:t> 5;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FED5A-2014-3903-FE95-DF52C4A62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415" y="2663735"/>
            <a:ext cx="2537680" cy="1127858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800675B-718C-7C0F-F984-9E10137155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576025"/>
              </p:ext>
            </p:extLst>
          </p:nvPr>
        </p:nvGraphicFramePr>
        <p:xfrm>
          <a:off x="5960413" y="3985205"/>
          <a:ext cx="5673684" cy="2589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3187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5E50-50E3-0333-006F-1770DC3B2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3D63B6-50E1-2F9E-B46E-A811AD2808BA}"/>
              </a:ext>
            </a:extLst>
          </p:cNvPr>
          <p:cNvSpPr txBox="1"/>
          <p:nvPr/>
        </p:nvSpPr>
        <p:spPr>
          <a:xfrm>
            <a:off x="1148593" y="898059"/>
            <a:ext cx="95445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7 </a:t>
            </a:r>
            <a:r>
              <a:rPr lang="en-IN" sz="1400" b="1" dirty="0"/>
              <a:t> Get the complete report of the Gross sales amount for the customer “</a:t>
            </a:r>
            <a:r>
              <a:rPr lang="en-IN" sz="1400" b="1" dirty="0" err="1"/>
              <a:t>Atliq</a:t>
            </a:r>
            <a:r>
              <a:rPr lang="en-IN" sz="1400" b="1" dirty="0"/>
              <a:t> Exclusive” for each month . This analysis helps to get an idea of low and high-performing months and take strategic decisions. The final report contains these columns: </a:t>
            </a:r>
            <a:endParaRPr lang="en-IN" sz="1400" dirty="0"/>
          </a:p>
          <a:p>
            <a:r>
              <a:rPr lang="en-IN" sz="1400" b="1" dirty="0"/>
              <a:t>Month </a:t>
            </a:r>
            <a:endParaRPr lang="en-IN" sz="1400" dirty="0"/>
          </a:p>
          <a:p>
            <a:r>
              <a:rPr lang="en-IN" sz="1400" b="1" dirty="0"/>
              <a:t>Year </a:t>
            </a:r>
            <a:endParaRPr lang="en-IN" sz="1400" dirty="0"/>
          </a:p>
          <a:p>
            <a:r>
              <a:rPr lang="en-IN" sz="1400" b="1" dirty="0"/>
              <a:t>Gross sales Amount</a:t>
            </a:r>
            <a:r>
              <a:rPr lang="en-IN" sz="14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E3CD2-61B2-8976-9615-82E39A6C8B3F}"/>
              </a:ext>
            </a:extLst>
          </p:cNvPr>
          <p:cNvSpPr txBox="1"/>
          <p:nvPr/>
        </p:nvSpPr>
        <p:spPr>
          <a:xfrm>
            <a:off x="294943" y="2173965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568FC1-BC98-614E-FB6C-8F2CF0ABB2B8}"/>
              </a:ext>
            </a:extLst>
          </p:cNvPr>
          <p:cNvSpPr txBox="1"/>
          <p:nvPr/>
        </p:nvSpPr>
        <p:spPr>
          <a:xfrm>
            <a:off x="1148593" y="3018984"/>
            <a:ext cx="57891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select</a:t>
            </a:r>
            <a:endParaRPr lang="en-IN" sz="1200" dirty="0"/>
          </a:p>
          <a:p>
            <a:r>
              <a:rPr lang="en-IN" sz="1200" b="1" i="1" dirty="0" err="1"/>
              <a:t>concat</a:t>
            </a:r>
            <a:r>
              <a:rPr lang="en-IN" sz="1200" dirty="0"/>
              <a:t>(</a:t>
            </a:r>
            <a:r>
              <a:rPr lang="en-IN" sz="1200" dirty="0" err="1"/>
              <a:t>monthname</a:t>
            </a:r>
            <a:r>
              <a:rPr lang="en-IN" sz="1200" dirty="0"/>
              <a:t>(</a:t>
            </a:r>
            <a:r>
              <a:rPr lang="en-IN" sz="1200" dirty="0" err="1"/>
              <a:t>s.date</a:t>
            </a:r>
            <a:r>
              <a:rPr lang="en-IN" sz="1200" dirty="0"/>
              <a:t>),'(',year(</a:t>
            </a:r>
            <a:r>
              <a:rPr lang="en-IN" sz="1200" dirty="0" err="1"/>
              <a:t>s.date</a:t>
            </a:r>
            <a:r>
              <a:rPr lang="en-IN" sz="1200" dirty="0"/>
              <a:t>),')') as month,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s.fiscal_year</a:t>
            </a:r>
            <a:r>
              <a:rPr lang="en-IN" sz="1200" dirty="0"/>
              <a:t>,</a:t>
            </a:r>
          </a:p>
          <a:p>
            <a:r>
              <a:rPr lang="en-IN" sz="1200" dirty="0"/>
              <a:t>        </a:t>
            </a:r>
            <a:r>
              <a:rPr lang="en-IN" sz="1200" b="1" i="1" dirty="0"/>
              <a:t>sum</a:t>
            </a:r>
            <a:r>
              <a:rPr lang="en-IN" sz="1200" dirty="0"/>
              <a:t>(</a:t>
            </a:r>
            <a:r>
              <a:rPr lang="en-IN" sz="1200" dirty="0" err="1"/>
              <a:t>s.sold_quantity</a:t>
            </a:r>
            <a:r>
              <a:rPr lang="en-IN" sz="1200" dirty="0"/>
              <a:t>*</a:t>
            </a:r>
            <a:r>
              <a:rPr lang="en-IN" sz="1200" dirty="0" err="1"/>
              <a:t>g.gross_price</a:t>
            </a:r>
            <a:r>
              <a:rPr lang="en-IN" sz="1200" dirty="0"/>
              <a:t>) as </a:t>
            </a:r>
            <a:r>
              <a:rPr lang="en-IN" sz="1200" dirty="0" err="1"/>
              <a:t>gross_sale_amt</a:t>
            </a:r>
            <a:endParaRPr lang="en-IN" sz="1200" dirty="0"/>
          </a:p>
          <a:p>
            <a:r>
              <a:rPr lang="en-IN" sz="1200" b="1" dirty="0"/>
              <a:t>from</a:t>
            </a:r>
            <a:r>
              <a:rPr lang="en-IN" sz="1200" dirty="0"/>
              <a:t> </a:t>
            </a:r>
            <a:r>
              <a:rPr lang="en-IN" sz="1200" dirty="0" err="1"/>
              <a:t>fact_sales_monthly</a:t>
            </a:r>
            <a:r>
              <a:rPr lang="en-IN" sz="1200" dirty="0"/>
              <a:t> s </a:t>
            </a:r>
          </a:p>
          <a:p>
            <a:r>
              <a:rPr lang="en-IN" sz="1200" b="1" dirty="0"/>
              <a:t>        join</a:t>
            </a:r>
            <a:r>
              <a:rPr lang="en-IN" sz="1200" dirty="0"/>
              <a:t> </a:t>
            </a:r>
            <a:r>
              <a:rPr lang="en-IN" sz="1200" dirty="0" err="1"/>
              <a:t>dim_customer</a:t>
            </a:r>
            <a:r>
              <a:rPr lang="en-IN" sz="1200" dirty="0"/>
              <a:t> c </a:t>
            </a:r>
            <a:r>
              <a:rPr lang="en-IN" sz="1200" b="1" dirty="0"/>
              <a:t>on</a:t>
            </a:r>
            <a:r>
              <a:rPr lang="en-IN" sz="1200" dirty="0"/>
              <a:t> </a:t>
            </a:r>
            <a:r>
              <a:rPr lang="en-IN" sz="1200" dirty="0" err="1"/>
              <a:t>s.customer_code</a:t>
            </a:r>
            <a:r>
              <a:rPr lang="en-IN" sz="1200" dirty="0"/>
              <a:t> = </a:t>
            </a:r>
            <a:r>
              <a:rPr lang="en-IN" sz="1200" dirty="0" err="1"/>
              <a:t>c.customer_code</a:t>
            </a:r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b="1" dirty="0"/>
              <a:t>join</a:t>
            </a:r>
            <a:r>
              <a:rPr lang="en-IN" sz="1200" dirty="0"/>
              <a:t> </a:t>
            </a:r>
            <a:r>
              <a:rPr lang="en-IN" sz="1200" dirty="0" err="1"/>
              <a:t>fact_gross_price</a:t>
            </a:r>
            <a:r>
              <a:rPr lang="en-IN" sz="1200" dirty="0"/>
              <a:t> g </a:t>
            </a:r>
            <a:r>
              <a:rPr lang="en-IN" sz="1200" b="1" dirty="0"/>
              <a:t>on</a:t>
            </a:r>
            <a:r>
              <a:rPr lang="en-IN" sz="1200" dirty="0"/>
              <a:t> </a:t>
            </a:r>
            <a:r>
              <a:rPr lang="en-IN" sz="1200" dirty="0" err="1"/>
              <a:t>s.product_code</a:t>
            </a:r>
            <a:r>
              <a:rPr lang="en-IN" sz="1200" dirty="0"/>
              <a:t> = </a:t>
            </a:r>
            <a:r>
              <a:rPr lang="en-IN" sz="1200" dirty="0" err="1"/>
              <a:t>g.product_code</a:t>
            </a:r>
            <a:endParaRPr lang="en-IN" sz="1200" dirty="0"/>
          </a:p>
          <a:p>
            <a:r>
              <a:rPr lang="en-IN" sz="1200" b="1" dirty="0"/>
              <a:t>where</a:t>
            </a:r>
            <a:r>
              <a:rPr lang="en-IN" sz="1200" dirty="0"/>
              <a:t> </a:t>
            </a:r>
            <a:r>
              <a:rPr lang="en-IN" sz="1200" dirty="0" err="1"/>
              <a:t>c.customer</a:t>
            </a:r>
            <a:r>
              <a:rPr lang="en-IN" sz="1200" dirty="0"/>
              <a:t> = "</a:t>
            </a:r>
            <a:r>
              <a:rPr lang="en-IN" sz="1200" dirty="0" err="1"/>
              <a:t>Atliq</a:t>
            </a:r>
            <a:r>
              <a:rPr lang="en-IN" sz="1200" dirty="0"/>
              <a:t> Exclusive"</a:t>
            </a:r>
          </a:p>
          <a:p>
            <a:r>
              <a:rPr lang="en-IN" sz="1200" dirty="0"/>
              <a:t>    </a:t>
            </a:r>
            <a:r>
              <a:rPr lang="en-IN" sz="1200" b="1" dirty="0"/>
              <a:t>group by </a:t>
            </a:r>
            <a:r>
              <a:rPr lang="en-IN" sz="1200" dirty="0"/>
              <a:t>month, </a:t>
            </a:r>
            <a:r>
              <a:rPr lang="en-IN" sz="1200" dirty="0" err="1"/>
              <a:t>s.fiscal_year</a:t>
            </a:r>
            <a:endParaRPr lang="en-IN" sz="1200" dirty="0"/>
          </a:p>
          <a:p>
            <a:r>
              <a:rPr lang="en-IN" sz="1200" dirty="0"/>
              <a:t>    </a:t>
            </a:r>
            <a:r>
              <a:rPr lang="en-IN" sz="1200" b="1" dirty="0"/>
              <a:t>order by</a:t>
            </a:r>
            <a:r>
              <a:rPr lang="en-IN" sz="1200" dirty="0"/>
              <a:t> </a:t>
            </a:r>
            <a:r>
              <a:rPr lang="en-IN" sz="1200" dirty="0" err="1"/>
              <a:t>s.fiscal_year</a:t>
            </a:r>
            <a:endParaRPr lang="en-IN" sz="1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7D7B07B-1BF6-5D58-3EA4-6070E6E951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9781963"/>
              </p:ext>
            </p:extLst>
          </p:nvPr>
        </p:nvGraphicFramePr>
        <p:xfrm>
          <a:off x="5503178" y="2543296"/>
          <a:ext cx="6266576" cy="2959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2475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E6D6-F4E3-B76B-25DF-6EA360B0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481B6D-949D-48A6-6276-C017121C7B0D}"/>
              </a:ext>
            </a:extLst>
          </p:cNvPr>
          <p:cNvSpPr txBox="1"/>
          <p:nvPr/>
        </p:nvSpPr>
        <p:spPr>
          <a:xfrm>
            <a:off x="1148593" y="898059"/>
            <a:ext cx="95445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8 </a:t>
            </a:r>
            <a:r>
              <a:rPr lang="en-IN" sz="1400" b="1" dirty="0"/>
              <a:t> In which quarter of 2020, got the </a:t>
            </a:r>
            <a:r>
              <a:rPr lang="en-IN" sz="1400" b="1" u="sng" dirty="0"/>
              <a:t>maximum </a:t>
            </a:r>
            <a:r>
              <a:rPr lang="en-IN" sz="1400" b="1" u="sng" dirty="0" err="1"/>
              <a:t>total_sold_quantity</a:t>
            </a:r>
            <a:r>
              <a:rPr lang="en-IN" sz="1400" b="1" dirty="0"/>
              <a:t>? The final output contains these fields sorted by the     </a:t>
            </a:r>
          </a:p>
          <a:p>
            <a:r>
              <a:rPr lang="en-IN" sz="1400" b="1" dirty="0" err="1"/>
              <a:t>total_sold_quantity</a:t>
            </a:r>
            <a:endParaRPr lang="en-IN" sz="1400" b="1" dirty="0"/>
          </a:p>
          <a:p>
            <a:r>
              <a:rPr lang="en-IN" sz="1400" b="1" dirty="0"/>
              <a:t>Quarter</a:t>
            </a:r>
          </a:p>
          <a:p>
            <a:r>
              <a:rPr lang="en-IN" sz="1400" b="1" dirty="0" err="1"/>
              <a:t>total_sold_quantity</a:t>
            </a:r>
            <a:r>
              <a:rPr lang="en-IN" sz="1400" b="1" dirty="0"/>
              <a:t> 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5A8D7D-102F-185B-C89B-F0A34307E2BE}"/>
              </a:ext>
            </a:extLst>
          </p:cNvPr>
          <p:cNvSpPr txBox="1"/>
          <p:nvPr/>
        </p:nvSpPr>
        <p:spPr>
          <a:xfrm>
            <a:off x="294943" y="2173965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852F4-3515-4107-062F-FC6E76263B8C}"/>
              </a:ext>
            </a:extLst>
          </p:cNvPr>
          <p:cNvSpPr txBox="1"/>
          <p:nvPr/>
        </p:nvSpPr>
        <p:spPr>
          <a:xfrm>
            <a:off x="1148593" y="2785145"/>
            <a:ext cx="509281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SELECT </a:t>
            </a:r>
            <a:endParaRPr lang="en-IN" sz="1200" dirty="0"/>
          </a:p>
          <a:p>
            <a:r>
              <a:rPr lang="en-IN" sz="1200" b="1" dirty="0"/>
              <a:t>CASE</a:t>
            </a:r>
            <a:endParaRPr lang="en-IN" sz="1200" dirty="0"/>
          </a:p>
          <a:p>
            <a:r>
              <a:rPr lang="en-IN" sz="1200" b="1" dirty="0"/>
              <a:t> WHEN</a:t>
            </a:r>
            <a:r>
              <a:rPr lang="en-IN" sz="1200" dirty="0"/>
              <a:t> MONTH(date) IN (9,10,11) THEN 'Q1'</a:t>
            </a:r>
          </a:p>
          <a:p>
            <a:r>
              <a:rPr lang="en-IN" sz="1200" dirty="0"/>
              <a:t> </a:t>
            </a:r>
            <a:r>
              <a:rPr lang="en-IN" sz="1200" b="1" dirty="0"/>
              <a:t>WHEN</a:t>
            </a:r>
            <a:r>
              <a:rPr lang="en-IN" sz="1200" dirty="0"/>
              <a:t> MONTH(date) IN (12,1,2) THEN 'Q2'</a:t>
            </a:r>
          </a:p>
          <a:p>
            <a:r>
              <a:rPr lang="en-IN" sz="1200" dirty="0"/>
              <a:t> </a:t>
            </a:r>
            <a:r>
              <a:rPr lang="en-IN" sz="1200" b="1" dirty="0"/>
              <a:t>WHEN</a:t>
            </a:r>
            <a:r>
              <a:rPr lang="en-IN" sz="1200" dirty="0"/>
              <a:t> MONTH(date) IN (3,4,5) THEN 'Q3'</a:t>
            </a:r>
          </a:p>
          <a:p>
            <a:r>
              <a:rPr lang="en-IN" sz="1200" dirty="0"/>
              <a:t> </a:t>
            </a:r>
            <a:r>
              <a:rPr lang="en-IN" sz="1200" b="1" dirty="0"/>
              <a:t>WHEN</a:t>
            </a:r>
            <a:r>
              <a:rPr lang="en-IN" sz="1200" dirty="0"/>
              <a:t> MONTH(date) IN (6,7,8) THEN 'Q4'</a:t>
            </a:r>
          </a:p>
          <a:p>
            <a:r>
              <a:rPr lang="en-IN" sz="1200" dirty="0"/>
              <a:t> </a:t>
            </a:r>
            <a:r>
              <a:rPr lang="en-IN" sz="1200" b="1" dirty="0"/>
              <a:t>END</a:t>
            </a:r>
            <a:r>
              <a:rPr lang="en-IN" sz="1200" dirty="0"/>
              <a:t> AS Quarters,</a:t>
            </a:r>
          </a:p>
          <a:p>
            <a:r>
              <a:rPr lang="en-IN" sz="1200" dirty="0"/>
              <a:t> </a:t>
            </a:r>
          </a:p>
          <a:p>
            <a:r>
              <a:rPr lang="en-IN" sz="1200" b="1" i="1" dirty="0"/>
              <a:t>SUM</a:t>
            </a:r>
            <a:r>
              <a:rPr lang="en-IN" sz="1200" dirty="0"/>
              <a:t>(</a:t>
            </a:r>
            <a:r>
              <a:rPr lang="en-IN" sz="1200" dirty="0" err="1"/>
              <a:t>sold_quantity</a:t>
            </a:r>
            <a:r>
              <a:rPr lang="en-IN" sz="1200" dirty="0"/>
              <a:t>) AS </a:t>
            </a:r>
            <a:r>
              <a:rPr lang="en-IN" sz="1200" dirty="0" err="1"/>
              <a:t>total_sold_quantity</a:t>
            </a:r>
            <a:endParaRPr lang="en-IN" sz="1200" dirty="0"/>
          </a:p>
          <a:p>
            <a:r>
              <a:rPr lang="en-IN" sz="1200" b="1" dirty="0"/>
              <a:t>FROM</a:t>
            </a:r>
            <a:r>
              <a:rPr lang="en-IN" sz="1200" dirty="0"/>
              <a:t> </a:t>
            </a:r>
            <a:r>
              <a:rPr lang="en-IN" sz="1200" dirty="0" err="1"/>
              <a:t>fact_sales_monthly</a:t>
            </a:r>
            <a:endParaRPr lang="en-IN" sz="1200" dirty="0"/>
          </a:p>
          <a:p>
            <a:r>
              <a:rPr lang="en-IN" sz="1200" b="1" dirty="0"/>
              <a:t>WHERE</a:t>
            </a:r>
            <a:r>
              <a:rPr lang="en-IN" sz="1200" dirty="0"/>
              <a:t> </a:t>
            </a:r>
            <a:r>
              <a:rPr lang="en-IN" sz="1200" dirty="0" err="1"/>
              <a:t>fiscal_year</a:t>
            </a:r>
            <a:r>
              <a:rPr lang="en-IN" sz="1200" dirty="0"/>
              <a:t> = 2020 </a:t>
            </a:r>
          </a:p>
          <a:p>
            <a:r>
              <a:rPr lang="en-IN" sz="1200" b="1" dirty="0"/>
              <a:t>GROUP BY</a:t>
            </a:r>
            <a:r>
              <a:rPr lang="en-IN" sz="1200" dirty="0"/>
              <a:t> Quarters</a:t>
            </a:r>
          </a:p>
          <a:p>
            <a:r>
              <a:rPr lang="en-IN" sz="1200" b="1" dirty="0"/>
              <a:t>ORDER BY</a:t>
            </a:r>
            <a:r>
              <a:rPr lang="en-IN" sz="1200" dirty="0"/>
              <a:t> </a:t>
            </a:r>
            <a:r>
              <a:rPr lang="en-IN" sz="1200" dirty="0" err="1"/>
              <a:t>total_sold_quantity</a:t>
            </a:r>
            <a:r>
              <a:rPr lang="en-IN" sz="1200" dirty="0"/>
              <a:t> </a:t>
            </a:r>
            <a:r>
              <a:rPr lang="en-IN" sz="1200" b="1" dirty="0"/>
              <a:t>DESC</a:t>
            </a:r>
            <a:r>
              <a:rPr lang="en-IN" sz="1200" dirty="0"/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20865-85AE-F001-192C-243055E95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738" y="1640374"/>
            <a:ext cx="3179167" cy="1436513"/>
          </a:xfrm>
          <a:prstGeom prst="rect">
            <a:avLst/>
          </a:prstGeom>
        </p:spPr>
      </p:pic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58BDA53E-27C9-5510-0246-B46C198CC76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02556103"/>
                  </p:ext>
                </p:extLst>
              </p:nvPr>
            </p:nvGraphicFramePr>
            <p:xfrm>
              <a:off x="6345572" y="3475869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58BDA53E-27C9-5510-0246-B46C198CC7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45572" y="3475869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867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0DF09-D2BD-368D-E1C0-C27D43BF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19A88E-2959-4B79-C3F0-769F08F4076F}"/>
              </a:ext>
            </a:extLst>
          </p:cNvPr>
          <p:cNvSpPr txBox="1"/>
          <p:nvPr/>
        </p:nvSpPr>
        <p:spPr>
          <a:xfrm>
            <a:off x="1148593" y="898059"/>
            <a:ext cx="95445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9 </a:t>
            </a:r>
            <a:r>
              <a:rPr lang="en-IN" sz="1400" b="1" dirty="0"/>
              <a:t> Which channel helped to bring more gross sales in the fiscal year 2021 and the percentage of contribution? The final output contains these fields, </a:t>
            </a:r>
            <a:endParaRPr lang="en-IN" sz="1400" dirty="0"/>
          </a:p>
          <a:p>
            <a:r>
              <a:rPr lang="en-IN" sz="1400" b="1" dirty="0"/>
              <a:t>channel </a:t>
            </a:r>
            <a:endParaRPr lang="en-IN" sz="1400" dirty="0"/>
          </a:p>
          <a:p>
            <a:r>
              <a:rPr lang="en-IN" sz="1400" b="1" dirty="0" err="1"/>
              <a:t>gross_sales_mln</a:t>
            </a:r>
            <a:r>
              <a:rPr lang="en-IN" sz="1400" b="1" dirty="0"/>
              <a:t> (</a:t>
            </a:r>
            <a:r>
              <a:rPr lang="en-IN" sz="1400" b="1" dirty="0" err="1"/>
              <a:t>gross_price</a:t>
            </a:r>
            <a:r>
              <a:rPr lang="en-IN" sz="1400" b="1" dirty="0"/>
              <a:t> * </a:t>
            </a:r>
            <a:r>
              <a:rPr lang="en-IN" sz="1400" b="1" dirty="0" err="1"/>
              <a:t>sold_quantity</a:t>
            </a:r>
            <a:r>
              <a:rPr lang="en-IN" sz="1400" b="1" dirty="0"/>
              <a:t>)</a:t>
            </a:r>
            <a:endParaRPr lang="en-IN" sz="1400" dirty="0"/>
          </a:p>
          <a:p>
            <a:r>
              <a:rPr lang="en-IN" sz="1400" b="1" dirty="0"/>
              <a:t>Percentage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B421A-CAD2-26F2-C873-D2F53AAD8D69}"/>
              </a:ext>
            </a:extLst>
          </p:cNvPr>
          <p:cNvSpPr txBox="1"/>
          <p:nvPr/>
        </p:nvSpPr>
        <p:spPr>
          <a:xfrm>
            <a:off x="294943" y="2173965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D1A7AC-C7F8-70A6-4E44-5F6854CAFE04}"/>
              </a:ext>
            </a:extLst>
          </p:cNvPr>
          <p:cNvSpPr txBox="1"/>
          <p:nvPr/>
        </p:nvSpPr>
        <p:spPr>
          <a:xfrm>
            <a:off x="1148593" y="2649652"/>
            <a:ext cx="50928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WITH CTE1 AS (</a:t>
            </a:r>
          </a:p>
          <a:p>
            <a:r>
              <a:rPr lang="en-IN" sz="1200" dirty="0"/>
              <a:t> SELECT </a:t>
            </a:r>
          </a:p>
          <a:p>
            <a:r>
              <a:rPr lang="en-IN" sz="1200" dirty="0" err="1"/>
              <a:t>c.channel</a:t>
            </a:r>
            <a:r>
              <a:rPr lang="en-IN" sz="1200" dirty="0"/>
              <a:t>,</a:t>
            </a:r>
          </a:p>
          <a:p>
            <a:r>
              <a:rPr lang="en-IN" sz="1200" dirty="0"/>
              <a:t> SUM(</a:t>
            </a:r>
            <a:r>
              <a:rPr lang="en-IN" sz="1200" dirty="0" err="1"/>
              <a:t>s.sold_quantity</a:t>
            </a:r>
            <a:r>
              <a:rPr lang="en-IN" sz="1200" dirty="0"/>
              <a:t> * </a:t>
            </a:r>
            <a:r>
              <a:rPr lang="en-IN" sz="1200" dirty="0" err="1"/>
              <a:t>g.gross_price</a:t>
            </a:r>
            <a:r>
              <a:rPr lang="en-IN" sz="1200" dirty="0"/>
              <a:t>) / 1000000 AS </a:t>
            </a:r>
            <a:r>
              <a:rPr lang="en-IN" sz="1200" dirty="0" err="1"/>
              <a:t>gross_sales_mln</a:t>
            </a:r>
            <a:endParaRPr lang="en-IN" sz="1200" dirty="0"/>
          </a:p>
          <a:p>
            <a:r>
              <a:rPr lang="en-IN" sz="1200" dirty="0"/>
              <a:t> FROM </a:t>
            </a:r>
            <a:r>
              <a:rPr lang="en-IN" sz="1200" dirty="0" err="1"/>
              <a:t>fact_sales_monthly</a:t>
            </a:r>
            <a:r>
              <a:rPr lang="en-IN" sz="1200" dirty="0"/>
              <a:t> s</a:t>
            </a:r>
          </a:p>
          <a:p>
            <a:r>
              <a:rPr lang="en-IN" sz="1200" dirty="0"/>
              <a:t> JOIN </a:t>
            </a:r>
            <a:r>
              <a:rPr lang="en-IN" sz="1200" dirty="0" err="1"/>
              <a:t>fact_gross_price</a:t>
            </a:r>
            <a:r>
              <a:rPr lang="en-IN" sz="1200" dirty="0"/>
              <a:t> g </a:t>
            </a:r>
          </a:p>
          <a:p>
            <a:r>
              <a:rPr lang="en-IN" sz="1200" dirty="0"/>
              <a:t>ON </a:t>
            </a:r>
            <a:r>
              <a:rPr lang="en-IN" sz="1200" dirty="0" err="1"/>
              <a:t>s.product_code</a:t>
            </a:r>
            <a:r>
              <a:rPr lang="en-IN" sz="1200" dirty="0"/>
              <a:t> = </a:t>
            </a:r>
            <a:r>
              <a:rPr lang="en-IN" sz="1200" dirty="0" err="1"/>
              <a:t>g.product_code</a:t>
            </a:r>
            <a:endParaRPr lang="en-IN" sz="1200" dirty="0"/>
          </a:p>
          <a:p>
            <a:r>
              <a:rPr lang="en-IN" sz="1200" dirty="0"/>
              <a:t> JOIN </a:t>
            </a:r>
            <a:r>
              <a:rPr lang="en-IN" sz="1200" dirty="0" err="1"/>
              <a:t>dim_customer</a:t>
            </a:r>
            <a:r>
              <a:rPr lang="en-IN" sz="1200" dirty="0"/>
              <a:t> c </a:t>
            </a:r>
          </a:p>
          <a:p>
            <a:r>
              <a:rPr lang="en-IN" sz="1200" dirty="0"/>
              <a:t>ON </a:t>
            </a:r>
            <a:r>
              <a:rPr lang="en-IN" sz="1200" dirty="0" err="1"/>
              <a:t>s.customer_code</a:t>
            </a:r>
            <a:r>
              <a:rPr lang="en-IN" sz="1200" dirty="0"/>
              <a:t> = </a:t>
            </a:r>
            <a:r>
              <a:rPr lang="en-IN" sz="1200" dirty="0" err="1"/>
              <a:t>c.customer_code</a:t>
            </a:r>
            <a:endParaRPr lang="en-IN" sz="1200" dirty="0"/>
          </a:p>
          <a:p>
            <a:r>
              <a:rPr lang="en-IN" sz="1200" dirty="0"/>
              <a:t> WHERE </a:t>
            </a:r>
            <a:r>
              <a:rPr lang="en-IN" sz="1200" dirty="0" err="1"/>
              <a:t>s.fiscal_year</a:t>
            </a:r>
            <a:r>
              <a:rPr lang="en-IN" sz="1200" dirty="0"/>
              <a:t> = 2021</a:t>
            </a:r>
          </a:p>
          <a:p>
            <a:r>
              <a:rPr lang="en-IN" sz="1200" dirty="0"/>
              <a:t> GROUP BY </a:t>
            </a:r>
            <a:r>
              <a:rPr lang="en-IN" sz="1200" dirty="0" err="1"/>
              <a:t>c.channel</a:t>
            </a:r>
            <a:endParaRPr lang="en-IN" sz="1200" dirty="0"/>
          </a:p>
          <a:p>
            <a:r>
              <a:rPr lang="en-IN" sz="1200" dirty="0"/>
              <a:t>)</a:t>
            </a:r>
          </a:p>
          <a:p>
            <a:r>
              <a:rPr lang="en-IN" sz="1200" dirty="0"/>
              <a:t> </a:t>
            </a:r>
          </a:p>
          <a:p>
            <a:r>
              <a:rPr lang="en-IN" sz="1200" dirty="0"/>
              <a:t>SELECT </a:t>
            </a:r>
          </a:p>
          <a:p>
            <a:r>
              <a:rPr lang="en-IN" sz="1200" dirty="0"/>
              <a:t>channel,</a:t>
            </a:r>
          </a:p>
          <a:p>
            <a:r>
              <a:rPr lang="en-IN" sz="1200" dirty="0"/>
              <a:t> ROUND(</a:t>
            </a:r>
            <a:r>
              <a:rPr lang="en-IN" sz="1200" dirty="0" err="1"/>
              <a:t>gross_sales_mln</a:t>
            </a:r>
            <a:r>
              <a:rPr lang="en-IN" sz="1200" dirty="0"/>
              <a:t>, 1) AS </a:t>
            </a:r>
            <a:r>
              <a:rPr lang="en-IN" sz="1200" dirty="0" err="1"/>
              <a:t>gross_sales_mln</a:t>
            </a:r>
            <a:r>
              <a:rPr lang="en-IN" sz="1200" dirty="0"/>
              <a:t>,</a:t>
            </a:r>
          </a:p>
          <a:p>
            <a:r>
              <a:rPr lang="en-IN" sz="1200" dirty="0"/>
              <a:t> ROUND(</a:t>
            </a:r>
            <a:r>
              <a:rPr lang="en-IN" sz="1200" dirty="0" err="1"/>
              <a:t>gross_sales_mln</a:t>
            </a:r>
            <a:r>
              <a:rPr lang="en-IN" sz="1200" dirty="0"/>
              <a:t> * 100 / SUM(</a:t>
            </a:r>
            <a:r>
              <a:rPr lang="en-IN" sz="1200" dirty="0" err="1"/>
              <a:t>gross_sales_mln</a:t>
            </a:r>
            <a:r>
              <a:rPr lang="en-IN" sz="1200" dirty="0"/>
              <a:t>) OVER (), 2) AS percentage</a:t>
            </a:r>
          </a:p>
          <a:p>
            <a:r>
              <a:rPr lang="en-IN" sz="1200" dirty="0"/>
              <a:t>FROM CTE1</a:t>
            </a:r>
          </a:p>
          <a:p>
            <a:r>
              <a:rPr lang="en-IN" sz="1200" dirty="0"/>
              <a:t>ORDER BY percentage DESC;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EA6757-E411-AD71-C36A-D68D742B5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344" y="2067610"/>
            <a:ext cx="3382557" cy="941735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6FB0E7F-777A-B40D-824F-7F4C64747C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0133413"/>
              </p:ext>
            </p:extLst>
          </p:nvPr>
        </p:nvGraphicFramePr>
        <p:xfrm>
          <a:off x="6902344" y="3848656"/>
          <a:ext cx="5289656" cy="3009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5641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C746-E4C4-795C-F12C-8F3DBFC5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9A5A73-2D26-FB0A-DA85-474AE54FFDBA}"/>
              </a:ext>
            </a:extLst>
          </p:cNvPr>
          <p:cNvSpPr txBox="1"/>
          <p:nvPr/>
        </p:nvSpPr>
        <p:spPr>
          <a:xfrm>
            <a:off x="1323713" y="428080"/>
            <a:ext cx="954457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808080"/>
                </a:highlight>
              </a:rPr>
              <a:t>Request 10 </a:t>
            </a:r>
            <a:r>
              <a:rPr lang="en-IN" sz="1400" b="1" dirty="0"/>
              <a:t> Get the Top 3 products in each division that have a high </a:t>
            </a:r>
            <a:r>
              <a:rPr lang="en-IN" sz="1400" b="1" dirty="0" err="1"/>
              <a:t>total_sold_quantity</a:t>
            </a:r>
            <a:r>
              <a:rPr lang="en-IN" sz="1400" b="1" dirty="0"/>
              <a:t> in the </a:t>
            </a:r>
            <a:r>
              <a:rPr lang="en-IN" sz="1400" b="1" dirty="0" err="1"/>
              <a:t>fiscal_year</a:t>
            </a:r>
            <a:r>
              <a:rPr lang="en-IN" sz="1400" b="1" dirty="0"/>
              <a:t> 2021? </a:t>
            </a:r>
            <a:endParaRPr lang="en-IN" sz="1400" dirty="0"/>
          </a:p>
          <a:p>
            <a:r>
              <a:rPr lang="en-IN" sz="1400" b="1" dirty="0"/>
              <a:t>       The final output contains these fields, </a:t>
            </a:r>
            <a:endParaRPr lang="en-IN" sz="1400" dirty="0"/>
          </a:p>
          <a:p>
            <a:r>
              <a:rPr lang="en-IN" sz="1400" b="1" dirty="0"/>
              <a:t>division </a:t>
            </a:r>
          </a:p>
          <a:p>
            <a:r>
              <a:rPr lang="en-IN" sz="1400" b="1" dirty="0" err="1"/>
              <a:t>product_code</a:t>
            </a:r>
            <a:endParaRPr lang="en-IN" sz="1400" b="1" dirty="0"/>
          </a:p>
          <a:p>
            <a:r>
              <a:rPr lang="en-IN" sz="1400" b="1" dirty="0"/>
              <a:t>Product</a:t>
            </a:r>
          </a:p>
          <a:p>
            <a:r>
              <a:rPr lang="en-IN" sz="1400" b="1" dirty="0" err="1"/>
              <a:t>total_sold_quantity</a:t>
            </a:r>
            <a:endParaRPr lang="en-IN" sz="1400" b="1" dirty="0"/>
          </a:p>
          <a:p>
            <a:r>
              <a:rPr lang="en-IN" sz="1400" b="1" dirty="0" err="1"/>
              <a:t>rank_order</a:t>
            </a:r>
            <a:endParaRPr lang="en-IN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35B55-93E5-491A-7848-781240840C42}"/>
              </a:ext>
            </a:extLst>
          </p:cNvPr>
          <p:cNvSpPr txBox="1"/>
          <p:nvPr/>
        </p:nvSpPr>
        <p:spPr>
          <a:xfrm>
            <a:off x="437555" y="2278697"/>
            <a:ext cx="23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highlight>
                  <a:srgbClr val="808080"/>
                </a:highlight>
              </a:rPr>
              <a:t>Query</a:t>
            </a:r>
            <a:r>
              <a:rPr lang="en-IN" dirty="0">
                <a:highlight>
                  <a:srgbClr val="808080"/>
                </a:highlight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9D8846-3135-CAB4-41F7-EC471227563C}"/>
              </a:ext>
            </a:extLst>
          </p:cNvPr>
          <p:cNvSpPr txBox="1"/>
          <p:nvPr/>
        </p:nvSpPr>
        <p:spPr>
          <a:xfrm>
            <a:off x="2080518" y="2306036"/>
            <a:ext cx="3766609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WITH </a:t>
            </a:r>
            <a:endParaRPr lang="en-IN" sz="1100" dirty="0"/>
          </a:p>
          <a:p>
            <a:r>
              <a:rPr lang="en-IN" sz="1100" dirty="0" err="1"/>
              <a:t>sales_data</a:t>
            </a:r>
            <a:r>
              <a:rPr lang="en-IN" sz="1100" dirty="0"/>
              <a:t> </a:t>
            </a:r>
            <a:r>
              <a:rPr lang="en-IN" sz="1100" b="1" dirty="0"/>
              <a:t>AS</a:t>
            </a:r>
            <a:r>
              <a:rPr lang="en-IN" sz="1100" dirty="0"/>
              <a:t> (</a:t>
            </a:r>
          </a:p>
          <a:p>
            <a:r>
              <a:rPr lang="en-IN" sz="1100" dirty="0"/>
              <a:t>    </a:t>
            </a:r>
            <a:r>
              <a:rPr lang="en-IN" sz="1100" b="1" dirty="0"/>
              <a:t>SELECT </a:t>
            </a:r>
            <a:endParaRPr lang="en-IN" sz="1100" dirty="0"/>
          </a:p>
          <a:p>
            <a:r>
              <a:rPr lang="en-IN" sz="1100" dirty="0"/>
              <a:t>        </a:t>
            </a:r>
            <a:r>
              <a:rPr lang="en-IN" sz="1100" dirty="0" err="1"/>
              <a:t>p.division</a:t>
            </a:r>
            <a:r>
              <a:rPr lang="en-IN" sz="1100" dirty="0"/>
              <a:t>,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fs.product_code</a:t>
            </a:r>
            <a:r>
              <a:rPr lang="en-IN" sz="1100" dirty="0"/>
              <a:t>,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p.product</a:t>
            </a:r>
            <a:r>
              <a:rPr lang="en-IN" sz="1100" dirty="0"/>
              <a:t>,</a:t>
            </a:r>
          </a:p>
          <a:p>
            <a:r>
              <a:rPr lang="en-IN" sz="1100" dirty="0"/>
              <a:t>        </a:t>
            </a:r>
            <a:r>
              <a:rPr lang="en-IN" sz="1100" b="1" i="1" dirty="0"/>
              <a:t>SUM</a:t>
            </a:r>
            <a:r>
              <a:rPr lang="en-IN" sz="1100" dirty="0"/>
              <a:t>(</a:t>
            </a:r>
            <a:r>
              <a:rPr lang="en-IN" sz="1100" dirty="0" err="1"/>
              <a:t>fs.sold_quantity</a:t>
            </a:r>
            <a:r>
              <a:rPr lang="en-IN" sz="1100" dirty="0"/>
              <a:t>) </a:t>
            </a:r>
            <a:r>
              <a:rPr lang="en-IN" sz="1100" b="1" dirty="0"/>
              <a:t>AS</a:t>
            </a:r>
            <a:r>
              <a:rPr lang="en-IN" sz="1100" dirty="0"/>
              <a:t> </a:t>
            </a:r>
            <a:r>
              <a:rPr lang="en-IN" sz="1100" dirty="0" err="1"/>
              <a:t>total_sold_qty</a:t>
            </a:r>
            <a:endParaRPr lang="en-IN" sz="1100" dirty="0"/>
          </a:p>
          <a:p>
            <a:r>
              <a:rPr lang="en-IN" sz="1100" dirty="0"/>
              <a:t>    </a:t>
            </a:r>
            <a:r>
              <a:rPr lang="en-IN" sz="1100" b="1" dirty="0"/>
              <a:t>FROM</a:t>
            </a:r>
            <a:r>
              <a:rPr lang="en-IN" sz="1100" dirty="0"/>
              <a:t> </a:t>
            </a:r>
            <a:r>
              <a:rPr lang="en-IN" sz="1100" dirty="0" err="1"/>
              <a:t>fact_sales_monthly</a:t>
            </a:r>
            <a:r>
              <a:rPr lang="en-IN" sz="1100" dirty="0"/>
              <a:t> fs</a:t>
            </a:r>
          </a:p>
          <a:p>
            <a:r>
              <a:rPr lang="en-IN" sz="1100" dirty="0"/>
              <a:t>    </a:t>
            </a:r>
            <a:r>
              <a:rPr lang="en-IN" sz="1100" b="1" dirty="0"/>
              <a:t>JOIN</a:t>
            </a:r>
            <a:r>
              <a:rPr lang="en-IN" sz="1100" dirty="0"/>
              <a:t> </a:t>
            </a:r>
            <a:r>
              <a:rPr lang="en-IN" sz="1100" dirty="0" err="1"/>
              <a:t>dim_product</a:t>
            </a:r>
            <a:r>
              <a:rPr lang="en-IN" sz="1100" dirty="0"/>
              <a:t> p</a:t>
            </a:r>
          </a:p>
          <a:p>
            <a:r>
              <a:rPr lang="en-IN" sz="1100" dirty="0"/>
              <a:t>        </a:t>
            </a:r>
            <a:r>
              <a:rPr lang="en-IN" sz="1100" b="1" dirty="0"/>
              <a:t>ON</a:t>
            </a:r>
            <a:r>
              <a:rPr lang="en-IN" sz="1100" dirty="0"/>
              <a:t> </a:t>
            </a:r>
            <a:r>
              <a:rPr lang="en-IN" sz="1100" dirty="0" err="1"/>
              <a:t>p.product_code</a:t>
            </a:r>
            <a:r>
              <a:rPr lang="en-IN" sz="1100" dirty="0"/>
              <a:t> = </a:t>
            </a:r>
            <a:r>
              <a:rPr lang="en-IN" sz="1100" dirty="0" err="1"/>
              <a:t>fs.product_code</a:t>
            </a:r>
            <a:endParaRPr lang="en-IN" sz="1100" dirty="0"/>
          </a:p>
          <a:p>
            <a:r>
              <a:rPr lang="en-IN" sz="1100" dirty="0"/>
              <a:t>    </a:t>
            </a:r>
            <a:r>
              <a:rPr lang="en-IN" sz="1100" b="1" dirty="0"/>
              <a:t>WHERE</a:t>
            </a:r>
            <a:r>
              <a:rPr lang="en-IN" sz="1100" dirty="0"/>
              <a:t> </a:t>
            </a:r>
            <a:r>
              <a:rPr lang="en-IN" sz="1100" dirty="0" err="1"/>
              <a:t>fs.fiscal_year</a:t>
            </a:r>
            <a:r>
              <a:rPr lang="en-IN" sz="1100" dirty="0"/>
              <a:t> = 2021</a:t>
            </a:r>
          </a:p>
          <a:p>
            <a:r>
              <a:rPr lang="en-IN" sz="1100" dirty="0"/>
              <a:t>    </a:t>
            </a:r>
            <a:r>
              <a:rPr lang="en-IN" sz="1100" b="1" dirty="0"/>
              <a:t>GROUP BY</a:t>
            </a:r>
            <a:r>
              <a:rPr lang="en-IN" sz="1100" dirty="0"/>
              <a:t> </a:t>
            </a:r>
            <a:r>
              <a:rPr lang="en-IN" sz="1100" dirty="0" err="1"/>
              <a:t>p.division</a:t>
            </a:r>
            <a:r>
              <a:rPr lang="en-IN" sz="1100" dirty="0"/>
              <a:t>, </a:t>
            </a:r>
            <a:r>
              <a:rPr lang="en-IN" sz="1100" dirty="0" err="1"/>
              <a:t>fs.product_code</a:t>
            </a:r>
            <a:r>
              <a:rPr lang="en-IN" sz="1100" dirty="0"/>
              <a:t>, </a:t>
            </a:r>
            <a:r>
              <a:rPr lang="en-IN" sz="1100" dirty="0" err="1"/>
              <a:t>p.product</a:t>
            </a:r>
            <a:endParaRPr lang="en-IN" sz="1100" dirty="0"/>
          </a:p>
          <a:p>
            <a:r>
              <a:rPr lang="en-IN" sz="1100" dirty="0"/>
              <a:t>),</a:t>
            </a:r>
          </a:p>
          <a:p>
            <a:r>
              <a:rPr lang="en-IN" sz="1100" b="1" dirty="0" err="1"/>
              <a:t>ranked_data</a:t>
            </a:r>
            <a:r>
              <a:rPr lang="en-IN" sz="1100" dirty="0"/>
              <a:t> </a:t>
            </a:r>
            <a:r>
              <a:rPr lang="en-IN" sz="1100" b="1" dirty="0"/>
              <a:t>AS</a:t>
            </a:r>
            <a:r>
              <a:rPr lang="en-IN" sz="1100" dirty="0"/>
              <a:t> (</a:t>
            </a:r>
          </a:p>
          <a:p>
            <a:r>
              <a:rPr lang="en-IN" sz="1100" dirty="0"/>
              <a:t>    </a:t>
            </a:r>
            <a:r>
              <a:rPr lang="en-IN" sz="1100" b="1" dirty="0"/>
              <a:t>SELECT</a:t>
            </a:r>
            <a:r>
              <a:rPr lang="en-IN" sz="1100" dirty="0"/>
              <a:t> *,</a:t>
            </a:r>
          </a:p>
          <a:p>
            <a:r>
              <a:rPr lang="en-IN" sz="1100" dirty="0"/>
              <a:t>           </a:t>
            </a:r>
            <a:r>
              <a:rPr lang="en-IN" sz="1100" b="1" dirty="0"/>
              <a:t>RANK</a:t>
            </a:r>
            <a:r>
              <a:rPr lang="en-IN" sz="1100" dirty="0"/>
              <a:t>() </a:t>
            </a:r>
            <a:r>
              <a:rPr lang="en-IN" sz="1100" b="1" dirty="0"/>
              <a:t>OVER</a:t>
            </a:r>
            <a:r>
              <a:rPr lang="en-IN" sz="1100" dirty="0"/>
              <a:t> (</a:t>
            </a:r>
          </a:p>
          <a:p>
            <a:r>
              <a:rPr lang="en-IN" sz="1100" dirty="0"/>
              <a:t>               </a:t>
            </a:r>
            <a:r>
              <a:rPr lang="en-IN" sz="1100" b="1" dirty="0"/>
              <a:t>PARTITION BY</a:t>
            </a:r>
            <a:r>
              <a:rPr lang="en-IN" sz="1100" dirty="0"/>
              <a:t> division</a:t>
            </a:r>
          </a:p>
          <a:p>
            <a:r>
              <a:rPr lang="en-IN" sz="1100" dirty="0"/>
              <a:t>               </a:t>
            </a:r>
            <a:r>
              <a:rPr lang="en-IN" sz="1100" b="1" dirty="0"/>
              <a:t>ORDER BY</a:t>
            </a:r>
            <a:r>
              <a:rPr lang="en-IN" sz="1100" dirty="0"/>
              <a:t> </a:t>
            </a:r>
            <a:r>
              <a:rPr lang="en-IN" sz="1100" dirty="0" err="1"/>
              <a:t>total_sold_qty</a:t>
            </a:r>
            <a:r>
              <a:rPr lang="en-IN" sz="1100" dirty="0"/>
              <a:t> </a:t>
            </a:r>
            <a:r>
              <a:rPr lang="en-IN" sz="1100" b="1" dirty="0"/>
              <a:t>DESC</a:t>
            </a:r>
            <a:endParaRPr lang="en-IN" sz="1100" dirty="0"/>
          </a:p>
          <a:p>
            <a:r>
              <a:rPr lang="en-IN" sz="1100" dirty="0"/>
              <a:t>           ) </a:t>
            </a:r>
            <a:r>
              <a:rPr lang="en-IN" sz="1100" b="1" dirty="0"/>
              <a:t>AS</a:t>
            </a:r>
            <a:r>
              <a:rPr lang="en-IN" sz="1100" dirty="0"/>
              <a:t> </a:t>
            </a:r>
            <a:r>
              <a:rPr lang="en-IN" sz="1100" dirty="0" err="1"/>
              <a:t>rank_order</a:t>
            </a:r>
            <a:endParaRPr lang="en-IN" sz="1100" dirty="0"/>
          </a:p>
          <a:p>
            <a:r>
              <a:rPr lang="en-IN" sz="1100" dirty="0"/>
              <a:t>    </a:t>
            </a:r>
            <a:r>
              <a:rPr lang="en-IN" sz="1100" b="1" dirty="0"/>
              <a:t>FROM</a:t>
            </a:r>
            <a:r>
              <a:rPr lang="en-IN" sz="1100" dirty="0"/>
              <a:t> </a:t>
            </a:r>
            <a:r>
              <a:rPr lang="en-IN" sz="1100" dirty="0" err="1"/>
              <a:t>sales_data</a:t>
            </a:r>
            <a:endParaRPr lang="en-IN" sz="1100" dirty="0"/>
          </a:p>
          <a:p>
            <a:r>
              <a:rPr lang="en-IN" sz="1100" dirty="0"/>
              <a:t>)</a:t>
            </a:r>
          </a:p>
          <a:p>
            <a:r>
              <a:rPr lang="en-IN" sz="1100" dirty="0"/>
              <a:t> </a:t>
            </a:r>
          </a:p>
          <a:p>
            <a:r>
              <a:rPr lang="en-IN" sz="1100" b="1" dirty="0"/>
              <a:t>SELECT</a:t>
            </a:r>
            <a:r>
              <a:rPr lang="en-IN" sz="1100" dirty="0"/>
              <a:t> *</a:t>
            </a:r>
          </a:p>
          <a:p>
            <a:r>
              <a:rPr lang="en-IN" sz="1100" b="1" dirty="0"/>
              <a:t>FROM</a:t>
            </a:r>
            <a:r>
              <a:rPr lang="en-IN" sz="1100" dirty="0"/>
              <a:t> </a:t>
            </a:r>
            <a:r>
              <a:rPr lang="en-IN" sz="1100" dirty="0" err="1"/>
              <a:t>ranked_data</a:t>
            </a:r>
            <a:endParaRPr lang="en-IN" sz="1100" dirty="0"/>
          </a:p>
          <a:p>
            <a:r>
              <a:rPr lang="en-IN" sz="1100" b="1" dirty="0"/>
              <a:t>WHERE</a:t>
            </a:r>
            <a:r>
              <a:rPr lang="en-IN" sz="1100" dirty="0"/>
              <a:t> </a:t>
            </a:r>
            <a:r>
              <a:rPr lang="en-IN" sz="1100" dirty="0" err="1"/>
              <a:t>rank_order</a:t>
            </a:r>
            <a:r>
              <a:rPr lang="en-IN" sz="1100" dirty="0"/>
              <a:t> &lt;= 3;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8C643-9870-DFA7-BFBE-757A717E9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344" y="1577180"/>
            <a:ext cx="4206605" cy="185182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F22B539-BEFA-4367-9B03-4C550C927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7331754"/>
              </p:ext>
            </p:extLst>
          </p:nvPr>
        </p:nvGraphicFramePr>
        <p:xfrm>
          <a:off x="6902344" y="3676958"/>
          <a:ext cx="5289656" cy="3181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4152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1658A-B300-A586-6BA4-123BE424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95A96A-B104-7C63-8683-4272DD1B19E6}"/>
              </a:ext>
            </a:extLst>
          </p:cNvPr>
          <p:cNvSpPr txBox="1"/>
          <p:nvPr/>
        </p:nvSpPr>
        <p:spPr>
          <a:xfrm>
            <a:off x="3546795" y="2690336"/>
            <a:ext cx="50984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7200" b="1" dirty="0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  <a:b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275283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16.3"/>
</p:tagLst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70D51D-DE12-4F71-B9BE-24CA18E64599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16c05727-aa75-4e4a-9b5f-8a80a1165891"/>
    <ds:schemaRef ds:uri="71af3243-3dd4-4a8d-8c0d-dd76da1f02a5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5552</TotalTime>
  <Words>1755</Words>
  <Application>Microsoft Office PowerPoint</Application>
  <PresentationFormat>Widescreen</PresentationFormat>
  <Paragraphs>211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Segoe UI</vt:lpstr>
      <vt:lpstr>Tw Cen MT</vt:lpstr>
      <vt:lpstr>Wingdings 2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Goods Ad hoc Insights</dc:title>
  <dc:creator>Gurjeet Singh Sodhi</dc:creator>
  <cp:lastModifiedBy>Swapnil Chavan</cp:lastModifiedBy>
  <cp:revision>88</cp:revision>
  <dcterms:created xsi:type="dcterms:W3CDTF">2023-01-19T17:14:39Z</dcterms:created>
  <dcterms:modified xsi:type="dcterms:W3CDTF">2026-04-23T15:40:18Z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